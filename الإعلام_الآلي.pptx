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0" d="100"/>
          <a:sy n="110" d="100"/>
        </p:scale>
        <p:origin x="228"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979587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p:push dir="u"/>
      </p:transition>
    </mc:Choice>
    <mc:Fallback>
      <p:transition spd="slow">
        <p:push dir="u"/>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4="http://schemas.microsoft.com/office/powerpoint/2010/main" Requires="p14">
      <p:transition spd="slow" p14:dur="2000">
        <p:push dir="u"/>
      </p:transition>
    </mc:Choice>
    <mc:Fallback>
      <p:transition spd="slow">
        <p:push dir="u"/>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0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sp>
      <p:sp>
        <p:nvSpPr>
          <p:cNvPr id="3" name="Shape 1"/>
          <p:cNvSpPr/>
          <p:nvPr/>
        </p:nvSpPr>
        <p:spPr>
          <a:xfrm>
            <a:off x="6858000" y="-731520"/>
            <a:ext cx="3200400" cy="3200400"/>
          </a:xfrm>
          <a:prstGeom prst="ellipse">
            <a:avLst/>
          </a:prstGeom>
          <a:solidFill>
            <a:srgbClr val="0077B6">
              <a:alpha val="25000"/>
            </a:srgbClr>
          </a:solidFill>
          <a:ln w="12700">
            <a:solidFill>
              <a:srgbClr val="0077B6">
                <a:alpha val="25000"/>
              </a:srgbClr>
            </a:solidFill>
            <a:prstDash val="solid"/>
          </a:ln>
        </p:spPr>
      </p:sp>
      <p:sp>
        <p:nvSpPr>
          <p:cNvPr id="4" name="Shape 2"/>
          <p:cNvSpPr/>
          <p:nvPr/>
        </p:nvSpPr>
        <p:spPr>
          <a:xfrm>
            <a:off x="6217920" y="2926080"/>
            <a:ext cx="2011680" cy="2011680"/>
          </a:xfrm>
          <a:prstGeom prst="ellipse">
            <a:avLst/>
          </a:prstGeom>
          <a:solidFill>
            <a:srgbClr val="00B4D8">
              <a:alpha val="15000"/>
            </a:srgbClr>
          </a:solidFill>
          <a:ln w="12700">
            <a:solidFill>
              <a:srgbClr val="00B4D8">
                <a:alpha val="15000"/>
              </a:srgbClr>
            </a:solidFill>
            <a:prstDash val="solid"/>
          </a:ln>
        </p:spPr>
      </p:sp>
      <p:sp>
        <p:nvSpPr>
          <p:cNvPr id="5" name="Text 3"/>
          <p:cNvSpPr/>
          <p:nvPr/>
        </p:nvSpPr>
        <p:spPr>
          <a:xfrm>
            <a:off x="-213360" y="1336766"/>
            <a:ext cx="8229600" cy="1097280"/>
          </a:xfrm>
          <a:prstGeom prst="rect">
            <a:avLst/>
          </a:prstGeom>
          <a:noFill/>
          <a:ln/>
        </p:spPr>
        <p:txBody>
          <a:bodyPr wrap="square" rtlCol="0" anchor="ctr"/>
          <a:lstStyle/>
          <a:p>
            <a:pPr marL="0" indent="0" algn="ctr" rtl="1">
              <a:buNone/>
            </a:pPr>
            <a:r>
              <a:rPr lang="ar-DZ" sz="7200" b="1" dirty="0" smtClean="0">
                <a:solidFill>
                  <a:srgbClr val="FFFFFF"/>
                </a:solidFill>
                <a:latin typeface="Calibri" pitchFamily="34" charset="0"/>
                <a:ea typeface="Calibri" pitchFamily="34" charset="-122"/>
                <a:cs typeface="Calibri" pitchFamily="34" charset="-120"/>
              </a:rPr>
              <a:t>الاعلام الآلي</a:t>
            </a:r>
            <a:endParaRPr lang="en-US" sz="7200" dirty="0"/>
          </a:p>
        </p:txBody>
      </p:sp>
      <p:sp>
        <p:nvSpPr>
          <p:cNvPr id="6" name="Text 4"/>
          <p:cNvSpPr/>
          <p:nvPr/>
        </p:nvSpPr>
        <p:spPr>
          <a:xfrm>
            <a:off x="457200" y="2560320"/>
            <a:ext cx="8229600" cy="548640"/>
          </a:xfrm>
          <a:prstGeom prst="rect">
            <a:avLst/>
          </a:prstGeom>
          <a:noFill/>
          <a:ln/>
        </p:spPr>
        <p:txBody>
          <a:bodyPr wrap="square" rtlCol="0" anchor="ctr"/>
          <a:lstStyle/>
          <a:p>
            <a:pPr marL="0" indent="0" algn="ctr" rtl="1">
              <a:buNone/>
            </a:pPr>
            <a:r>
              <a:rPr lang="ar-DZ" sz="2800" b="1" dirty="0" smtClean="0">
                <a:solidFill>
                  <a:srgbClr val="00B4D8"/>
                </a:solidFill>
                <a:latin typeface="BIZ UDPGothic" panose="020B0400000000000000" pitchFamily="34" charset="-128"/>
                <a:ea typeface="BIZ UDPGothic" panose="020B0400000000000000" pitchFamily="34" charset="-128"/>
                <a:cs typeface="Calibri" pitchFamily="34" charset="-120"/>
              </a:rPr>
              <a:t>المعلوماتية</a:t>
            </a:r>
            <a:r>
              <a:rPr lang="en-US" sz="2800" b="1" dirty="0" smtClean="0">
                <a:solidFill>
                  <a:srgbClr val="00B4D8"/>
                </a:solidFill>
                <a:latin typeface="BIZ UDPGothic" panose="020B0400000000000000" pitchFamily="34" charset="-128"/>
                <a:ea typeface="BIZ UDPGothic" panose="020B0400000000000000" pitchFamily="34" charset="-128"/>
                <a:cs typeface="Calibri" pitchFamily="34" charset="-120"/>
              </a:rPr>
              <a:t>-</a:t>
            </a:r>
            <a:r>
              <a:rPr lang="ar-DZ" sz="2800" b="1" dirty="0" smtClean="0">
                <a:solidFill>
                  <a:srgbClr val="00B4D8"/>
                </a:solidFill>
                <a:latin typeface="BIZ UDPGothic" panose="020B0400000000000000" pitchFamily="34" charset="-128"/>
                <a:ea typeface="BIZ UDPGothic" panose="020B0400000000000000" pitchFamily="34" charset="-128"/>
                <a:cs typeface="Calibri" pitchFamily="34" charset="-120"/>
              </a:rPr>
              <a:t> العلم الذي يشغل عالمنا الحديث</a:t>
            </a:r>
            <a:endParaRPr lang="en-US" sz="2800" b="1" dirty="0">
              <a:latin typeface="BIZ UDPGothic" panose="020B0400000000000000" pitchFamily="34" charset="-128"/>
              <a:ea typeface="BIZ UDPGothic" panose="020B0400000000000000" pitchFamily="34" charset="-128"/>
            </a:endParaRPr>
          </a:p>
        </p:txBody>
      </p:sp>
      <p:sp>
        <p:nvSpPr>
          <p:cNvPr id="7" name="Shape 5"/>
          <p:cNvSpPr/>
          <p:nvPr/>
        </p:nvSpPr>
        <p:spPr>
          <a:xfrm>
            <a:off x="3200400" y="3246120"/>
            <a:ext cx="2743200" cy="45720"/>
          </a:xfrm>
          <a:prstGeom prst="rect">
            <a:avLst/>
          </a:prstGeom>
          <a:solidFill>
            <a:srgbClr val="00B4D8"/>
          </a:solidFill>
          <a:ln w="12700">
            <a:solidFill>
              <a:srgbClr val="00B4D8"/>
            </a:solidFill>
            <a:prstDash val="solid"/>
          </a:ln>
        </p:spPr>
      </p:sp>
      <p:sp>
        <p:nvSpPr>
          <p:cNvPr id="8" name="Text 6"/>
          <p:cNvSpPr/>
          <p:nvPr/>
        </p:nvSpPr>
        <p:spPr>
          <a:xfrm>
            <a:off x="457200" y="3474720"/>
            <a:ext cx="8229600" cy="457200"/>
          </a:xfrm>
          <a:prstGeom prst="rect">
            <a:avLst/>
          </a:prstGeom>
          <a:noFill/>
          <a:ln/>
        </p:spPr>
        <p:txBody>
          <a:bodyPr wrap="square" rtlCol="0" anchor="ctr"/>
          <a:lstStyle/>
          <a:p>
            <a:pPr marL="0" indent="0" algn="ctr" rtl="1">
              <a:buNone/>
            </a:pPr>
            <a:r>
              <a:rPr lang="en-US" sz="1300" dirty="0">
                <a:solidFill>
                  <a:srgbClr val="90CAD8"/>
                </a:solidFill>
                <a:latin typeface="Calibri" pitchFamily="34" charset="0"/>
                <a:ea typeface="Calibri" pitchFamily="34" charset="-122"/>
                <a:cs typeface="Calibri" pitchFamily="34" charset="-120"/>
              </a:rPr>
              <a:t>تعريف | مكونات | أهمية | تحديات | تقنيات حديثة</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2000">
        <p:push dir="u"/>
      </p:transition>
    </mc:Choice>
    <mc:Fallback>
      <p:transition spd="slow">
        <p:push dir="u"/>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B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4"/>
          </a:solidFill>
          <a:ln w="12700">
            <a:solidFill>
              <a:srgbClr val="0F2044"/>
            </a:solidFill>
            <a:prstDash val="solid"/>
          </a:ln>
        </p:spPr>
      </p:sp>
      <p:sp>
        <p:nvSpPr>
          <p:cNvPr id="3" name="Text 1"/>
          <p:cNvSpPr/>
          <p:nvPr/>
        </p:nvSpPr>
        <p:spPr>
          <a:xfrm>
            <a:off x="274320" y="0"/>
            <a:ext cx="8595360" cy="914400"/>
          </a:xfrm>
          <a:prstGeom prst="rect">
            <a:avLst/>
          </a:prstGeom>
          <a:noFill/>
          <a:ln/>
        </p:spPr>
        <p:txBody>
          <a:bodyPr wrap="square" rtlCol="0" anchor="ctr"/>
          <a:lstStyle/>
          <a:p>
            <a:pPr marL="0" indent="0" algn="ctr" rtl="1">
              <a:buNone/>
            </a:pPr>
            <a:r>
              <a:rPr lang="en-US" sz="2600" b="1" dirty="0">
                <a:solidFill>
                  <a:srgbClr val="FFFFFF"/>
                </a:solidFill>
                <a:latin typeface="Calibri" pitchFamily="34" charset="0"/>
                <a:ea typeface="Calibri" pitchFamily="34" charset="-122"/>
                <a:cs typeface="Calibri" pitchFamily="34" charset="-120"/>
              </a:rPr>
              <a:t>تعريف الإعلام الآلي</a:t>
            </a:r>
            <a:endParaRPr lang="en-US" sz="2600" dirty="0"/>
          </a:p>
        </p:txBody>
      </p:sp>
      <p:sp>
        <p:nvSpPr>
          <p:cNvPr id="4" name="Shape 2"/>
          <p:cNvSpPr/>
          <p:nvPr/>
        </p:nvSpPr>
        <p:spPr>
          <a:xfrm>
            <a:off x="274320" y="1097280"/>
            <a:ext cx="8595360" cy="1417320"/>
          </a:xfrm>
          <a:prstGeom prst="rect">
            <a:avLst/>
          </a:prstGeom>
          <a:solidFill>
            <a:srgbClr val="FFFFFF"/>
          </a:solidFill>
          <a:ln/>
          <a:effectLst>
            <a:outerShdw blurRad="101600" dist="25400" dir="8100000" algn="bl" rotWithShape="0">
              <a:srgbClr val="000000">
                <a:alpha val="10000"/>
              </a:srgbClr>
            </a:outerShdw>
          </a:effectLst>
        </p:spPr>
      </p:sp>
      <p:sp>
        <p:nvSpPr>
          <p:cNvPr id="5" name="Shape 3"/>
          <p:cNvSpPr/>
          <p:nvPr/>
        </p:nvSpPr>
        <p:spPr>
          <a:xfrm>
            <a:off x="274320" y="1097280"/>
            <a:ext cx="109728" cy="1417320"/>
          </a:xfrm>
          <a:prstGeom prst="rect">
            <a:avLst/>
          </a:prstGeom>
          <a:solidFill>
            <a:srgbClr val="00B4D8"/>
          </a:solidFill>
          <a:ln w="12700">
            <a:solidFill>
              <a:srgbClr val="00B4D8"/>
            </a:solidFill>
            <a:prstDash val="solid"/>
          </a:ln>
        </p:spPr>
      </p:sp>
      <p:sp>
        <p:nvSpPr>
          <p:cNvPr id="6" name="Text 4"/>
          <p:cNvSpPr/>
          <p:nvPr/>
        </p:nvSpPr>
        <p:spPr>
          <a:xfrm>
            <a:off x="548640" y="1143000"/>
            <a:ext cx="8138160" cy="1325880"/>
          </a:xfrm>
          <a:prstGeom prst="rect">
            <a:avLst/>
          </a:prstGeom>
          <a:noFill/>
          <a:ln/>
        </p:spPr>
        <p:txBody>
          <a:bodyPr wrap="square" rtlCol="0" anchor="ctr"/>
          <a:lstStyle/>
          <a:p>
            <a:pPr marL="0" indent="0" algn="ctr" rtl="1">
              <a:buNone/>
            </a:pPr>
            <a:r>
              <a:rPr lang="en-US" b="1" dirty="0">
                <a:solidFill>
                  <a:srgbClr val="1E293B"/>
                </a:solidFill>
                <a:latin typeface="BIZ UDPMincho Medium" panose="02020500000000000000" pitchFamily="18" charset="-128"/>
                <a:ea typeface="BIZ UDPMincho Medium" panose="02020500000000000000" pitchFamily="18" charset="-128"/>
                <a:cs typeface="Calibri" pitchFamily="34" charset="-120"/>
              </a:rPr>
              <a:t>الإعلام الآلي أو المعلوماتية هو العلم الذي يدرس معالجة المعلومات بصورة آلية عن طريق الحاسوب. يجمع هذا العلم بين عدة تخصصات منها الرياضيات، والهندسة، وعلم المنطق. ظهر هذا المصطلح لأول مرة في فرنسا سنة 1962 على يد العالم </a:t>
            </a:r>
            <a:r>
              <a:rPr lang="en-US" b="1" dirty="0">
                <a:solidFill>
                  <a:srgbClr val="1E293B"/>
                </a:solidFill>
                <a:latin typeface="BIZ UDPMincho Medium" panose="02020500000000000000" pitchFamily="18" charset="-128"/>
                <a:ea typeface="BIZ UDPMincho Medium" panose="02020500000000000000" pitchFamily="18" charset="-128"/>
                <a:cs typeface="+mj-cs"/>
              </a:rPr>
              <a:t>Philippe Dreyfus.</a:t>
            </a:r>
            <a:endParaRPr lang="en-US" b="1" dirty="0">
              <a:latin typeface="BIZ UDPMincho Medium" panose="02020500000000000000" pitchFamily="18" charset="-128"/>
              <a:ea typeface="BIZ UDPMincho Medium" panose="02020500000000000000" pitchFamily="18" charset="-128"/>
              <a:cs typeface="+mj-cs"/>
            </a:endParaRPr>
          </a:p>
        </p:txBody>
      </p:sp>
      <p:sp>
        <p:nvSpPr>
          <p:cNvPr id="7" name="Shape 5"/>
          <p:cNvSpPr/>
          <p:nvPr/>
        </p:nvSpPr>
        <p:spPr>
          <a:xfrm>
            <a:off x="274320" y="2743200"/>
            <a:ext cx="2788920" cy="1828800"/>
          </a:xfrm>
          <a:prstGeom prst="rect">
            <a:avLst/>
          </a:prstGeom>
          <a:solidFill>
            <a:srgbClr val="0077B6"/>
          </a:solidFill>
          <a:ln/>
          <a:effectLst>
            <a:outerShdw blurRad="76200" dist="25400" dir="8100000" algn="bl" rotWithShape="0">
              <a:srgbClr val="000000">
                <a:alpha val="12000"/>
              </a:srgbClr>
            </a:outerShdw>
          </a:effectLst>
        </p:spPr>
      </p:sp>
      <p:sp>
        <p:nvSpPr>
          <p:cNvPr id="8" name="Text 6"/>
          <p:cNvSpPr/>
          <p:nvPr/>
        </p:nvSpPr>
        <p:spPr>
          <a:xfrm>
            <a:off x="274320" y="2788920"/>
            <a:ext cx="2788920" cy="640080"/>
          </a:xfrm>
          <a:prstGeom prst="rect">
            <a:avLst/>
          </a:prstGeom>
          <a:noFill/>
          <a:ln/>
        </p:spPr>
        <p:txBody>
          <a:bodyPr wrap="square" rtlCol="0" anchor="ctr"/>
          <a:lstStyle/>
          <a:p>
            <a:pPr marL="0" indent="0" algn="ctr" rtl="1">
              <a:buNone/>
            </a:pPr>
            <a:r>
              <a:rPr lang="en-US" sz="1400" b="1" dirty="0">
                <a:solidFill>
                  <a:srgbClr val="FFFFFF"/>
                </a:solidFill>
                <a:latin typeface="BIZ UDPMincho Medium" panose="02020500000000000000" pitchFamily="18" charset="-128"/>
                <a:ea typeface="BIZ UDPMincho Medium" panose="02020500000000000000" pitchFamily="18" charset="-128"/>
                <a:cs typeface="Calibri" pitchFamily="34" charset="-120"/>
              </a:rPr>
              <a:t>المعطيات (Data)</a:t>
            </a:r>
            <a:endParaRPr lang="en-US" sz="1400" dirty="0">
              <a:latin typeface="BIZ UDPMincho Medium" panose="02020500000000000000" pitchFamily="18" charset="-128"/>
              <a:ea typeface="BIZ UDPMincho Medium" panose="02020500000000000000" pitchFamily="18" charset="-128"/>
            </a:endParaRPr>
          </a:p>
        </p:txBody>
      </p:sp>
      <p:sp>
        <p:nvSpPr>
          <p:cNvPr id="9" name="Text 7"/>
          <p:cNvSpPr/>
          <p:nvPr/>
        </p:nvSpPr>
        <p:spPr>
          <a:xfrm>
            <a:off x="274320" y="3429000"/>
            <a:ext cx="2788920" cy="1005840"/>
          </a:xfrm>
          <a:prstGeom prst="rect">
            <a:avLst/>
          </a:prstGeom>
          <a:noFill/>
          <a:ln/>
        </p:spPr>
        <p:txBody>
          <a:bodyPr wrap="square" rtlCol="0" anchor="ctr"/>
          <a:lstStyle/>
          <a:p>
            <a:pPr marL="0" indent="0" algn="ctr" rtl="1">
              <a:buNone/>
            </a:pPr>
            <a:r>
              <a:rPr lang="en-US" sz="1400" dirty="0">
                <a:solidFill>
                  <a:srgbClr val="D0EAF8"/>
                </a:solidFill>
                <a:latin typeface="BIZ UDPMincho Medium" panose="02020500000000000000" pitchFamily="18" charset="-128"/>
                <a:ea typeface="BIZ UDPMincho Medium" panose="02020500000000000000" pitchFamily="18" charset="-128"/>
                <a:cs typeface="Calibri" pitchFamily="34" charset="-120"/>
              </a:rPr>
              <a:t>المادة الخام من أرقام ونصوص وصور</a:t>
            </a:r>
            <a:endParaRPr lang="en-US" sz="1400" dirty="0">
              <a:latin typeface="BIZ UDPMincho Medium" panose="02020500000000000000" pitchFamily="18" charset="-128"/>
              <a:ea typeface="BIZ UDPMincho Medium" panose="02020500000000000000" pitchFamily="18" charset="-128"/>
            </a:endParaRPr>
          </a:p>
        </p:txBody>
      </p:sp>
      <p:sp>
        <p:nvSpPr>
          <p:cNvPr id="10" name="Shape 8"/>
          <p:cNvSpPr/>
          <p:nvPr/>
        </p:nvSpPr>
        <p:spPr>
          <a:xfrm>
            <a:off x="3200400" y="2743200"/>
            <a:ext cx="2788920" cy="1828800"/>
          </a:xfrm>
          <a:prstGeom prst="rect">
            <a:avLst/>
          </a:prstGeom>
          <a:solidFill>
            <a:srgbClr val="00B4D8"/>
          </a:solidFill>
          <a:ln/>
          <a:effectLst>
            <a:outerShdw blurRad="76200" dist="25400" dir="8100000" algn="bl" rotWithShape="0">
              <a:srgbClr val="000000">
                <a:alpha val="12000"/>
              </a:srgbClr>
            </a:outerShdw>
          </a:effectLst>
        </p:spPr>
      </p:sp>
      <p:sp>
        <p:nvSpPr>
          <p:cNvPr id="11" name="Text 9"/>
          <p:cNvSpPr/>
          <p:nvPr/>
        </p:nvSpPr>
        <p:spPr>
          <a:xfrm>
            <a:off x="3200400" y="2788920"/>
            <a:ext cx="2788920" cy="640080"/>
          </a:xfrm>
          <a:prstGeom prst="rect">
            <a:avLst/>
          </a:prstGeom>
          <a:noFill/>
          <a:ln/>
        </p:spPr>
        <p:txBody>
          <a:bodyPr wrap="square" rtlCol="0" anchor="ctr"/>
          <a:lstStyle/>
          <a:p>
            <a:pPr marL="0" indent="0" algn="ctr" rtl="1">
              <a:buNone/>
            </a:pPr>
            <a:r>
              <a:rPr lang="en-US" sz="1400" b="1" dirty="0">
                <a:solidFill>
                  <a:srgbClr val="FFFFFF"/>
                </a:solidFill>
                <a:latin typeface="BIZ UDPMincho Medium" panose="02020500000000000000" pitchFamily="18" charset="-128"/>
                <a:ea typeface="BIZ UDPMincho Medium" panose="02020500000000000000" pitchFamily="18" charset="-128"/>
                <a:cs typeface="Calibri" pitchFamily="34" charset="-120"/>
              </a:rPr>
              <a:t>المعالجة (Processing)</a:t>
            </a:r>
            <a:endParaRPr lang="en-US" sz="1400" dirty="0">
              <a:latin typeface="BIZ UDPMincho Medium" panose="02020500000000000000" pitchFamily="18" charset="-128"/>
              <a:ea typeface="BIZ UDPMincho Medium" panose="02020500000000000000" pitchFamily="18" charset="-128"/>
            </a:endParaRPr>
          </a:p>
        </p:txBody>
      </p:sp>
      <p:sp>
        <p:nvSpPr>
          <p:cNvPr id="12" name="Text 10"/>
          <p:cNvSpPr/>
          <p:nvPr/>
        </p:nvSpPr>
        <p:spPr>
          <a:xfrm>
            <a:off x="3200400" y="3429000"/>
            <a:ext cx="2788920" cy="1005840"/>
          </a:xfrm>
          <a:prstGeom prst="rect">
            <a:avLst/>
          </a:prstGeom>
          <a:noFill/>
          <a:ln/>
        </p:spPr>
        <p:txBody>
          <a:bodyPr wrap="square" rtlCol="0" anchor="ctr"/>
          <a:lstStyle/>
          <a:p>
            <a:pPr marL="0" indent="0" algn="ctr" rtl="1">
              <a:buNone/>
            </a:pPr>
            <a:r>
              <a:rPr lang="en-US" sz="1400" dirty="0">
                <a:solidFill>
                  <a:srgbClr val="D0EAF8"/>
                </a:solidFill>
                <a:latin typeface="BIZ UDPMincho Medium" panose="02020500000000000000" pitchFamily="18" charset="-128"/>
                <a:ea typeface="BIZ UDPMincho Medium" panose="02020500000000000000" pitchFamily="18" charset="-128"/>
                <a:cs typeface="(AH) Manal Black" pitchFamily="2" charset="-78"/>
              </a:rPr>
              <a:t>تحويل المعطيات إلى معلومات مفيدة</a:t>
            </a:r>
            <a:endParaRPr lang="en-US" sz="1400" dirty="0">
              <a:latin typeface="BIZ UDPMincho Medium" panose="02020500000000000000" pitchFamily="18" charset="-128"/>
              <a:ea typeface="BIZ UDPMincho Medium" panose="02020500000000000000" pitchFamily="18" charset="-128"/>
              <a:cs typeface="(AH) Manal Black" pitchFamily="2" charset="-78"/>
            </a:endParaRPr>
          </a:p>
        </p:txBody>
      </p:sp>
      <p:sp>
        <p:nvSpPr>
          <p:cNvPr id="13" name="Shape 11"/>
          <p:cNvSpPr/>
          <p:nvPr/>
        </p:nvSpPr>
        <p:spPr>
          <a:xfrm>
            <a:off x="6126480" y="2743200"/>
            <a:ext cx="2788920" cy="1828800"/>
          </a:xfrm>
          <a:prstGeom prst="rect">
            <a:avLst/>
          </a:prstGeom>
          <a:solidFill>
            <a:srgbClr val="023E8A"/>
          </a:solidFill>
          <a:ln/>
          <a:effectLst>
            <a:outerShdw blurRad="76200" dist="25400" dir="8100000" algn="bl" rotWithShape="0">
              <a:srgbClr val="000000">
                <a:alpha val="12000"/>
              </a:srgbClr>
            </a:outerShdw>
          </a:effectLst>
        </p:spPr>
      </p:sp>
      <p:sp>
        <p:nvSpPr>
          <p:cNvPr id="14" name="Text 12"/>
          <p:cNvSpPr/>
          <p:nvPr/>
        </p:nvSpPr>
        <p:spPr>
          <a:xfrm>
            <a:off x="6126480" y="2788920"/>
            <a:ext cx="2788920" cy="640080"/>
          </a:xfrm>
          <a:prstGeom prst="rect">
            <a:avLst/>
          </a:prstGeom>
          <a:noFill/>
          <a:ln/>
        </p:spPr>
        <p:txBody>
          <a:bodyPr wrap="square" rtlCol="0" anchor="ctr"/>
          <a:lstStyle/>
          <a:p>
            <a:pPr marL="0" indent="0" algn="ctr" rtl="1">
              <a:buNone/>
            </a:pPr>
            <a:r>
              <a:rPr lang="en-US" sz="1400" b="1" dirty="0">
                <a:solidFill>
                  <a:srgbClr val="FFFFFF"/>
                </a:solidFill>
                <a:latin typeface="BIZ UDPMincho Medium" panose="02020500000000000000" pitchFamily="18" charset="-128"/>
                <a:ea typeface="BIZ UDPMincho Medium" panose="02020500000000000000" pitchFamily="18" charset="-128"/>
                <a:cs typeface="Calibri" pitchFamily="34" charset="-120"/>
              </a:rPr>
              <a:t>النتائج (Output)</a:t>
            </a:r>
            <a:endParaRPr lang="en-US" sz="1400" dirty="0">
              <a:latin typeface="BIZ UDPMincho Medium" panose="02020500000000000000" pitchFamily="18" charset="-128"/>
              <a:ea typeface="BIZ UDPMincho Medium" panose="02020500000000000000" pitchFamily="18" charset="-128"/>
            </a:endParaRPr>
          </a:p>
        </p:txBody>
      </p:sp>
      <p:sp>
        <p:nvSpPr>
          <p:cNvPr id="15" name="Text 13"/>
          <p:cNvSpPr/>
          <p:nvPr/>
        </p:nvSpPr>
        <p:spPr>
          <a:xfrm>
            <a:off x="6126480" y="3429000"/>
            <a:ext cx="2788920" cy="1005840"/>
          </a:xfrm>
          <a:prstGeom prst="rect">
            <a:avLst/>
          </a:prstGeom>
          <a:noFill/>
          <a:ln/>
        </p:spPr>
        <p:txBody>
          <a:bodyPr wrap="square" rtlCol="0" anchor="ctr"/>
          <a:lstStyle/>
          <a:p>
            <a:pPr marL="0" indent="0" algn="ctr" rtl="1">
              <a:buNone/>
            </a:pPr>
            <a:r>
              <a:rPr lang="en-US" sz="1400" b="1" dirty="0">
                <a:solidFill>
                  <a:srgbClr val="FFFFFF"/>
                </a:solidFill>
                <a:latin typeface="BIZ UDPMincho Medium" panose="02020500000000000000" pitchFamily="18" charset="-128"/>
                <a:ea typeface="BIZ UDPMincho Medium" panose="02020500000000000000" pitchFamily="18" charset="-128"/>
                <a:cs typeface="Calibri" pitchFamily="34" charset="-120"/>
              </a:rPr>
              <a:t>تقديم المعلومات بشكل قابل للاستخدام</a:t>
            </a:r>
          </a:p>
        </p:txBody>
      </p:sp>
    </p:spTree>
  </p:cSld>
  <p:clrMapOvr>
    <a:masterClrMapping/>
  </p:clrMapOvr>
  <mc:AlternateContent xmlns:mc="http://schemas.openxmlformats.org/markup-compatibility/2006">
    <mc:Choice xmlns:p14="http://schemas.microsoft.com/office/powerpoint/2010/main" Requires="p14">
      <p:transition spd="slow" p14:dur="2000">
        <p:push dir="u"/>
      </p:transition>
    </mc:Choice>
    <mc:Fallback>
      <p:transition spd="slow">
        <p:push dir="u"/>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77B6"/>
          </a:solidFill>
          <a:ln w="12700">
            <a:solidFill>
              <a:srgbClr val="0077B6"/>
            </a:solidFill>
            <a:prstDash val="solid"/>
          </a:ln>
        </p:spPr>
      </p:sp>
      <p:sp>
        <p:nvSpPr>
          <p:cNvPr id="3" name="Text 1"/>
          <p:cNvSpPr/>
          <p:nvPr/>
        </p:nvSpPr>
        <p:spPr>
          <a:xfrm>
            <a:off x="274320" y="0"/>
            <a:ext cx="8595360" cy="914400"/>
          </a:xfrm>
          <a:prstGeom prst="rect">
            <a:avLst/>
          </a:prstGeom>
          <a:noFill/>
          <a:ln/>
        </p:spPr>
        <p:txBody>
          <a:bodyPr wrap="square" rtlCol="0" anchor="ctr"/>
          <a:lstStyle/>
          <a:p>
            <a:pPr marL="0" indent="0" algn="ctr" rtl="1">
              <a:buNone/>
            </a:pPr>
            <a:r>
              <a:rPr lang="ar-DZ" sz="2600" b="1" dirty="0" smtClean="0">
                <a:solidFill>
                  <a:srgbClr val="FFFFFF"/>
                </a:solidFill>
                <a:latin typeface="Calibri" pitchFamily="34" charset="0"/>
                <a:ea typeface="Calibri" pitchFamily="34" charset="-122"/>
                <a:cs typeface="Calibri" pitchFamily="34" charset="-120"/>
              </a:rPr>
              <a:t>مكونات الحاسوب-</a:t>
            </a:r>
            <a:r>
              <a:rPr lang="en-US" sz="2600" b="1" dirty="0" smtClean="0">
                <a:solidFill>
                  <a:srgbClr val="FFFFFF"/>
                </a:solidFill>
                <a:latin typeface="Calibri" pitchFamily="34" charset="0"/>
                <a:ea typeface="Calibri" pitchFamily="34" charset="-122"/>
                <a:cs typeface="Calibri" pitchFamily="34" charset="-120"/>
              </a:rPr>
              <a:t> </a:t>
            </a:r>
            <a:r>
              <a:rPr lang="en-US" sz="2600" b="1" dirty="0">
                <a:solidFill>
                  <a:srgbClr val="FFFFFF"/>
                </a:solidFill>
                <a:latin typeface="Calibri" pitchFamily="34" charset="0"/>
                <a:ea typeface="Calibri" pitchFamily="34" charset="-122"/>
                <a:cs typeface="Calibri" pitchFamily="34" charset="-120"/>
              </a:rPr>
              <a:t>العتاد (Hardware)</a:t>
            </a:r>
            <a:endParaRPr lang="en-US" sz="2600" dirty="0"/>
          </a:p>
        </p:txBody>
      </p:sp>
      <p:sp>
        <p:nvSpPr>
          <p:cNvPr id="4" name="Shape 2"/>
          <p:cNvSpPr/>
          <p:nvPr/>
        </p:nvSpPr>
        <p:spPr>
          <a:xfrm>
            <a:off x="228600" y="105156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5" name="Shape 3"/>
          <p:cNvSpPr/>
          <p:nvPr/>
        </p:nvSpPr>
        <p:spPr>
          <a:xfrm>
            <a:off x="2560320" y="1188720"/>
            <a:ext cx="411480" cy="411480"/>
          </a:xfrm>
          <a:prstGeom prst="ellipse">
            <a:avLst/>
          </a:prstGeom>
          <a:solidFill>
            <a:srgbClr val="EBF4FA"/>
          </a:solidFill>
          <a:ln w="12700">
            <a:solidFill>
              <a:srgbClr val="EBF4FA"/>
            </a:solidFill>
            <a:prstDash val="solid"/>
          </a:ln>
        </p:spPr>
      </p:sp>
      <p:sp>
        <p:nvSpPr>
          <p:cNvPr id="7" name="Text 4"/>
          <p:cNvSpPr/>
          <p:nvPr/>
        </p:nvSpPr>
        <p:spPr>
          <a:xfrm>
            <a:off x="320040" y="1143000"/>
            <a:ext cx="2194560" cy="411480"/>
          </a:xfrm>
          <a:prstGeom prst="rect">
            <a:avLst/>
          </a:prstGeom>
          <a:noFill/>
          <a:ln/>
        </p:spPr>
        <p:txBody>
          <a:bodyPr wrap="square" rtlCol="0" anchor="ctr"/>
          <a:lstStyle/>
          <a:p>
            <a:pPr marL="0" indent="0" algn="r" rtl="1">
              <a:buNone/>
            </a:pPr>
            <a:r>
              <a:rPr lang="en-US" b="1" dirty="0">
                <a:solidFill>
                  <a:srgbClr val="0077B6"/>
                </a:solidFill>
                <a:latin typeface="BIZ UDPMincho Medium" panose="02020500000000000000" pitchFamily="18" charset="-128"/>
                <a:ea typeface="BIZ UDPMincho Medium" panose="02020500000000000000" pitchFamily="18" charset="-128"/>
                <a:cs typeface="Calibri" pitchFamily="34" charset="-120"/>
              </a:rPr>
              <a:t>المعالج (CPU)</a:t>
            </a:r>
            <a:endParaRPr lang="en-US" dirty="0">
              <a:latin typeface="BIZ UDPMincho Medium" panose="02020500000000000000" pitchFamily="18" charset="-128"/>
              <a:ea typeface="BIZ UDPMincho Medium" panose="02020500000000000000" pitchFamily="18" charset="-128"/>
            </a:endParaRPr>
          </a:p>
        </p:txBody>
      </p:sp>
      <p:sp>
        <p:nvSpPr>
          <p:cNvPr id="8" name="Text 5"/>
          <p:cNvSpPr/>
          <p:nvPr/>
        </p:nvSpPr>
        <p:spPr>
          <a:xfrm>
            <a:off x="513806" y="1554480"/>
            <a:ext cx="2457994" cy="1188720"/>
          </a:xfrm>
          <a:prstGeom prst="rect">
            <a:avLst/>
          </a:prstGeom>
          <a:noFill/>
          <a:ln/>
        </p:spPr>
        <p:txBody>
          <a:bodyPr wrap="square" rtlCol="0" anchor="t"/>
          <a:lstStyle/>
          <a:p>
            <a:pPr marL="0" indent="0" algn="just" rtl="1">
              <a:buNone/>
            </a:pPr>
            <a:r>
              <a:rPr lang="ar-DZ" dirty="0" smtClean="0">
                <a:solidFill>
                  <a:srgbClr val="334155"/>
                </a:solidFill>
                <a:latin typeface="BIZ UDPMincho Medium" panose="02020500000000000000" pitchFamily="18" charset="-128"/>
                <a:ea typeface="BIZ UDPMincho Medium" panose="02020500000000000000" pitchFamily="18" charset="-128"/>
                <a:cs typeface="Calibri" pitchFamily="34" charset="-120"/>
              </a:rPr>
              <a:t>وحدة المعالجةالمركزية</a:t>
            </a:r>
            <a:r>
              <a:rPr lang="en-US" dirty="0" smtClean="0">
                <a:solidFill>
                  <a:srgbClr val="334155"/>
                </a:solidFill>
                <a:latin typeface="BIZ UDPMincho Medium" panose="02020500000000000000" pitchFamily="18" charset="-128"/>
                <a:ea typeface="BIZ UDPMincho Medium" panose="02020500000000000000" pitchFamily="18" charset="-128"/>
                <a:cs typeface="Calibri" pitchFamily="34" charset="-120"/>
              </a:rPr>
              <a:t>، </a:t>
            </a:r>
            <a:r>
              <a:rPr lang="ar-DZ" dirty="0" smtClean="0">
                <a:solidFill>
                  <a:srgbClr val="334155"/>
                </a:solidFill>
                <a:latin typeface="BIZ UDPMincho Medium" panose="02020500000000000000" pitchFamily="18" charset="-128"/>
                <a:ea typeface="BIZ UDPMincho Medium" panose="02020500000000000000" pitchFamily="18" charset="-128"/>
                <a:cs typeface="Calibri" pitchFamily="34" charset="-120"/>
              </a:rPr>
              <a:t>دماغ الحاسوب المسؤول عن </a:t>
            </a:r>
            <a:r>
              <a:rPr lang="en-US" dirty="0" err="1" smtClean="0">
                <a:solidFill>
                  <a:srgbClr val="334155"/>
                </a:solidFill>
                <a:latin typeface="BIZ UDPMincho Medium" panose="02020500000000000000" pitchFamily="18" charset="-128"/>
                <a:ea typeface="BIZ UDPMincho Medium" panose="02020500000000000000" pitchFamily="18" charset="-128"/>
                <a:cs typeface="Calibri" pitchFamily="34" charset="-120"/>
              </a:rPr>
              <a:t>تنفيذ</a:t>
            </a:r>
            <a:r>
              <a:rPr lang="en-US" dirty="0" smtClean="0">
                <a:solidFill>
                  <a:srgbClr val="334155"/>
                </a:solidFill>
                <a:latin typeface="BIZ UDPMincho Medium" panose="02020500000000000000" pitchFamily="18" charset="-128"/>
                <a:ea typeface="BIZ UDPMincho Medium" panose="02020500000000000000" pitchFamily="18" charset="-128"/>
                <a:cs typeface="Calibri" pitchFamily="34" charset="-120"/>
              </a:rPr>
              <a:t> </a:t>
            </a:r>
            <a:r>
              <a:rPr lang="en-US" dirty="0">
                <a:solidFill>
                  <a:srgbClr val="334155"/>
                </a:solidFill>
                <a:latin typeface="BIZ UDPMincho Medium" panose="02020500000000000000" pitchFamily="18" charset="-128"/>
                <a:ea typeface="BIZ UDPMincho Medium" panose="02020500000000000000" pitchFamily="18" charset="-128"/>
                <a:cs typeface="Calibri" pitchFamily="34" charset="-120"/>
              </a:rPr>
              <a:t>جميع العمليات الحسابية والمنطقية بسرعة فائقة.</a:t>
            </a:r>
            <a:endParaRPr lang="en-US" dirty="0">
              <a:latin typeface="BIZ UDPMincho Medium" panose="02020500000000000000" pitchFamily="18" charset="-128"/>
              <a:ea typeface="BIZ UDPMincho Medium" panose="02020500000000000000" pitchFamily="18" charset="-128"/>
            </a:endParaRPr>
          </a:p>
        </p:txBody>
      </p:sp>
      <p:sp>
        <p:nvSpPr>
          <p:cNvPr id="9" name="Shape 6"/>
          <p:cNvSpPr/>
          <p:nvPr/>
        </p:nvSpPr>
        <p:spPr>
          <a:xfrm>
            <a:off x="3154680" y="105156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10" name="Shape 7"/>
          <p:cNvSpPr/>
          <p:nvPr/>
        </p:nvSpPr>
        <p:spPr>
          <a:xfrm>
            <a:off x="5486400" y="1188720"/>
            <a:ext cx="411480" cy="411480"/>
          </a:xfrm>
          <a:prstGeom prst="ellipse">
            <a:avLst/>
          </a:prstGeom>
          <a:solidFill>
            <a:srgbClr val="EBF4FA"/>
          </a:solidFill>
          <a:ln w="12700">
            <a:solidFill>
              <a:srgbClr val="EBF4FA"/>
            </a:solidFill>
            <a:prstDash val="solid"/>
          </a:ln>
        </p:spPr>
      </p:sp>
      <p:pic>
        <p:nvPicPr>
          <p:cNvPr id="11" name="Image 1" descr="preencoded.png"/>
          <p:cNvPicPr>
            <a:picLocks noChangeAspect="1"/>
          </p:cNvPicPr>
          <p:nvPr/>
        </p:nvPicPr>
        <p:blipFill>
          <a:blip r:embed="rId3"/>
          <a:stretch>
            <a:fillRect/>
          </a:stretch>
        </p:blipFill>
        <p:spPr>
          <a:xfrm>
            <a:off x="5504688" y="1207008"/>
            <a:ext cx="374904" cy="374904"/>
          </a:xfrm>
          <a:prstGeom prst="rect">
            <a:avLst/>
          </a:prstGeom>
        </p:spPr>
      </p:pic>
      <p:sp>
        <p:nvSpPr>
          <p:cNvPr id="12" name="Text 8"/>
          <p:cNvSpPr/>
          <p:nvPr/>
        </p:nvSpPr>
        <p:spPr>
          <a:xfrm>
            <a:off x="3246120" y="1143000"/>
            <a:ext cx="2194560" cy="411480"/>
          </a:xfrm>
          <a:prstGeom prst="rect">
            <a:avLst/>
          </a:prstGeom>
          <a:noFill/>
          <a:ln/>
        </p:spPr>
        <p:txBody>
          <a:bodyPr wrap="square" rtlCol="0" anchor="ctr"/>
          <a:lstStyle/>
          <a:p>
            <a:pPr marL="0" indent="0" algn="r" rtl="1">
              <a:buNone/>
            </a:pPr>
            <a:r>
              <a:rPr lang="en-US" b="1" dirty="0">
                <a:solidFill>
                  <a:srgbClr val="0077B6"/>
                </a:solidFill>
                <a:latin typeface="BIZ UDPMincho Medium" panose="02020500000000000000" pitchFamily="18" charset="-128"/>
                <a:ea typeface="BIZ UDPMincho Medium" panose="02020500000000000000" pitchFamily="18" charset="-128"/>
                <a:cs typeface="Calibri" pitchFamily="34" charset="-120"/>
              </a:rPr>
              <a:t>الذاكرة (RAM)</a:t>
            </a:r>
            <a:endParaRPr lang="en-US" dirty="0">
              <a:latin typeface="BIZ UDPMincho Medium" panose="02020500000000000000" pitchFamily="18" charset="-128"/>
              <a:ea typeface="BIZ UDPMincho Medium" panose="02020500000000000000" pitchFamily="18" charset="-128"/>
            </a:endParaRPr>
          </a:p>
        </p:txBody>
      </p:sp>
      <p:sp>
        <p:nvSpPr>
          <p:cNvPr id="13" name="Text 9"/>
          <p:cNvSpPr/>
          <p:nvPr/>
        </p:nvSpPr>
        <p:spPr>
          <a:xfrm>
            <a:off x="3246120" y="1554480"/>
            <a:ext cx="2651760" cy="1188720"/>
          </a:xfrm>
          <a:prstGeom prst="rect">
            <a:avLst/>
          </a:prstGeom>
          <a:noFill/>
          <a:ln/>
        </p:spPr>
        <p:txBody>
          <a:bodyPr wrap="square" rtlCol="0" anchor="t"/>
          <a:lstStyle/>
          <a:p>
            <a:pPr marL="0" indent="0" algn="just" rtl="1">
              <a:buNone/>
            </a:pPr>
            <a:r>
              <a:rPr lang="en-US" dirty="0">
                <a:solidFill>
                  <a:srgbClr val="334155"/>
                </a:solidFill>
                <a:latin typeface="BIZ UDPMincho Medium" panose="02020500000000000000" pitchFamily="18" charset="-128"/>
                <a:ea typeface="BIZ UDPMincho Medium" panose="02020500000000000000" pitchFamily="18" charset="-128"/>
                <a:cs typeface="Calibri" pitchFamily="34" charset="-120"/>
              </a:rPr>
              <a:t>ذاكرة الوصول العشوائي، تحتفظ مؤقتًا بالبيانات التي يعالجها المعالج لتسريع الأداء.</a:t>
            </a:r>
            <a:endParaRPr lang="en-US" dirty="0">
              <a:latin typeface="BIZ UDPMincho Medium" panose="02020500000000000000" pitchFamily="18" charset="-128"/>
              <a:ea typeface="BIZ UDPMincho Medium" panose="02020500000000000000" pitchFamily="18" charset="-128"/>
            </a:endParaRPr>
          </a:p>
        </p:txBody>
      </p:sp>
      <p:sp>
        <p:nvSpPr>
          <p:cNvPr id="14" name="Shape 10"/>
          <p:cNvSpPr/>
          <p:nvPr/>
        </p:nvSpPr>
        <p:spPr>
          <a:xfrm>
            <a:off x="6080760" y="105156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15" name="Shape 11"/>
          <p:cNvSpPr/>
          <p:nvPr/>
        </p:nvSpPr>
        <p:spPr>
          <a:xfrm>
            <a:off x="8412480" y="1188720"/>
            <a:ext cx="411480" cy="411480"/>
          </a:xfrm>
          <a:prstGeom prst="ellipse">
            <a:avLst/>
          </a:prstGeom>
          <a:solidFill>
            <a:srgbClr val="EBF4FA"/>
          </a:solidFill>
          <a:ln w="12700">
            <a:solidFill>
              <a:srgbClr val="EBF4FA"/>
            </a:solidFill>
            <a:prstDash val="solid"/>
          </a:ln>
        </p:spPr>
      </p:sp>
      <p:pic>
        <p:nvPicPr>
          <p:cNvPr id="16" name="Image 2" descr="preencoded.png"/>
          <p:cNvPicPr>
            <a:picLocks noChangeAspect="1"/>
          </p:cNvPicPr>
          <p:nvPr/>
        </p:nvPicPr>
        <p:blipFill>
          <a:blip r:embed="rId4"/>
          <a:stretch>
            <a:fillRect/>
          </a:stretch>
        </p:blipFill>
        <p:spPr>
          <a:xfrm>
            <a:off x="8430768" y="1207008"/>
            <a:ext cx="374904" cy="374904"/>
          </a:xfrm>
          <a:prstGeom prst="rect">
            <a:avLst/>
          </a:prstGeom>
        </p:spPr>
      </p:pic>
      <p:sp>
        <p:nvSpPr>
          <p:cNvPr id="17" name="Text 12"/>
          <p:cNvSpPr/>
          <p:nvPr/>
        </p:nvSpPr>
        <p:spPr>
          <a:xfrm>
            <a:off x="6172200" y="1143000"/>
            <a:ext cx="2194560" cy="411480"/>
          </a:xfrm>
          <a:prstGeom prst="rect">
            <a:avLst/>
          </a:prstGeom>
          <a:noFill/>
          <a:ln/>
        </p:spPr>
        <p:txBody>
          <a:bodyPr wrap="square" rtlCol="0" anchor="ctr"/>
          <a:lstStyle/>
          <a:p>
            <a:pPr marL="0" indent="0" algn="r" rtl="1">
              <a:buNone/>
            </a:pPr>
            <a:r>
              <a:rPr lang="en-US" b="1" dirty="0">
                <a:solidFill>
                  <a:srgbClr val="0077B6"/>
                </a:solidFill>
                <a:latin typeface="BIZ UDPMincho Medium" panose="02020500000000000000" pitchFamily="18" charset="-128"/>
                <a:ea typeface="BIZ UDPMincho Medium" panose="02020500000000000000" pitchFamily="18" charset="-128"/>
                <a:cs typeface="Calibri" pitchFamily="34" charset="-120"/>
              </a:rPr>
              <a:t>وحدة التخزين</a:t>
            </a:r>
            <a:endParaRPr lang="en-US" dirty="0">
              <a:latin typeface="BIZ UDPMincho Medium" panose="02020500000000000000" pitchFamily="18" charset="-128"/>
              <a:ea typeface="BIZ UDPMincho Medium" panose="02020500000000000000" pitchFamily="18" charset="-128"/>
            </a:endParaRPr>
          </a:p>
        </p:txBody>
      </p:sp>
      <p:sp>
        <p:nvSpPr>
          <p:cNvPr id="18" name="Text 13"/>
          <p:cNvSpPr/>
          <p:nvPr/>
        </p:nvSpPr>
        <p:spPr>
          <a:xfrm>
            <a:off x="6172200" y="1554480"/>
            <a:ext cx="2651760" cy="1188720"/>
          </a:xfrm>
          <a:prstGeom prst="rect">
            <a:avLst/>
          </a:prstGeom>
          <a:noFill/>
          <a:ln/>
        </p:spPr>
        <p:txBody>
          <a:bodyPr wrap="square" rtlCol="0" anchor="t"/>
          <a:lstStyle/>
          <a:p>
            <a:pPr algn="r" rtl="1"/>
            <a:r>
              <a:rPr lang="ar-DZ" sz="1600" dirty="0" smtClean="0">
                <a:solidFill>
                  <a:srgbClr val="334155"/>
                </a:solidFill>
                <a:latin typeface="BIZ UDPMincho Medium" panose="02020500000000000000" pitchFamily="18" charset="-128"/>
                <a:ea typeface="BIZ UDPMincho Medium" panose="02020500000000000000" pitchFamily="18" charset="-128"/>
                <a:cs typeface="Calibri" pitchFamily="34" charset="-120"/>
              </a:rPr>
              <a:t>القرص الصلب أو</a:t>
            </a:r>
            <a:r>
              <a:rPr lang="en-US" sz="1600" dirty="0" smtClean="0">
                <a:solidFill>
                  <a:srgbClr val="334155"/>
                </a:solidFill>
                <a:latin typeface="BIZ UDPMincho Medium" panose="02020500000000000000" pitchFamily="18" charset="-128"/>
                <a:ea typeface="BIZ UDPMincho Medium" panose="02020500000000000000" pitchFamily="18" charset="-128"/>
                <a:cs typeface="Calibri" pitchFamily="34" charset="-120"/>
              </a:rPr>
              <a:t>SSD </a:t>
            </a:r>
            <a:r>
              <a:rPr lang="ar-DZ" sz="1600" dirty="0" smtClean="0">
                <a:solidFill>
                  <a:srgbClr val="334155"/>
                </a:solidFill>
                <a:latin typeface="BIZ UDPMincho Medium" panose="02020500000000000000" pitchFamily="18" charset="-128"/>
                <a:ea typeface="BIZ UDPMincho Medium" panose="02020500000000000000" pitchFamily="18" charset="-128"/>
                <a:cs typeface="Calibri" pitchFamily="34" charset="-120"/>
              </a:rPr>
              <a:t> لحفظ البيانات والبرامج بشكل دائم حتى بعد إيقاف </a:t>
            </a:r>
            <a:r>
              <a:rPr lang="ar-DZ" sz="1600" dirty="0" smtClean="0">
                <a:solidFill>
                  <a:srgbClr val="334155"/>
                </a:solidFill>
                <a:latin typeface="BIZ UDPMincho Medium" panose="02020500000000000000" pitchFamily="18" charset="-128"/>
                <a:ea typeface="BIZ UDPMincho Medium" panose="02020500000000000000" pitchFamily="18" charset="-128"/>
                <a:cs typeface="Calibri" pitchFamily="34" charset="-120"/>
              </a:rPr>
              <a:t>تشغيل </a:t>
            </a:r>
            <a:r>
              <a:rPr lang="ar-DZ" sz="1600" dirty="0" smtClean="0">
                <a:solidFill>
                  <a:srgbClr val="334155"/>
                </a:solidFill>
                <a:latin typeface="BIZ UDPMincho Medium" panose="02020500000000000000" pitchFamily="18" charset="-128"/>
                <a:ea typeface="BIZ UDPMincho Medium" panose="02020500000000000000" pitchFamily="18" charset="-128"/>
                <a:cs typeface="Calibri" pitchFamily="34" charset="-120"/>
              </a:rPr>
              <a:t>الجهاز</a:t>
            </a:r>
            <a:r>
              <a:rPr lang="en-US" sz="1600" dirty="0" smtClean="0">
                <a:solidFill>
                  <a:srgbClr val="334155"/>
                </a:solidFill>
                <a:latin typeface="BIZ UDPMincho Medium" panose="02020500000000000000" pitchFamily="18" charset="-128"/>
                <a:ea typeface="BIZ UDPMincho Medium" panose="02020500000000000000" pitchFamily="18" charset="-128"/>
                <a:cs typeface="Calibri" pitchFamily="34" charset="-120"/>
              </a:rPr>
              <a:t>.</a:t>
            </a:r>
            <a:endParaRPr lang="en-US" sz="1600" dirty="0">
              <a:latin typeface="BIZ UDPMincho Medium" panose="02020500000000000000" pitchFamily="18" charset="-128"/>
              <a:ea typeface="BIZ UDPMincho Medium" panose="02020500000000000000" pitchFamily="18" charset="-128"/>
            </a:endParaRPr>
          </a:p>
        </p:txBody>
      </p:sp>
      <p:sp>
        <p:nvSpPr>
          <p:cNvPr id="19" name="Shape 14"/>
          <p:cNvSpPr/>
          <p:nvPr/>
        </p:nvSpPr>
        <p:spPr>
          <a:xfrm>
            <a:off x="228600" y="297180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20" name="Shape 15"/>
          <p:cNvSpPr/>
          <p:nvPr/>
        </p:nvSpPr>
        <p:spPr>
          <a:xfrm>
            <a:off x="2560320" y="3108960"/>
            <a:ext cx="411480" cy="411480"/>
          </a:xfrm>
          <a:prstGeom prst="ellipse">
            <a:avLst/>
          </a:prstGeom>
          <a:solidFill>
            <a:srgbClr val="EBF4FA"/>
          </a:solidFill>
          <a:ln w="12700">
            <a:solidFill>
              <a:srgbClr val="EBF4FA"/>
            </a:solidFill>
            <a:prstDash val="solid"/>
          </a:ln>
        </p:spPr>
      </p:sp>
      <p:pic>
        <p:nvPicPr>
          <p:cNvPr id="21" name="Image 3" descr="preencoded.png"/>
          <p:cNvPicPr>
            <a:picLocks noChangeAspect="1"/>
          </p:cNvPicPr>
          <p:nvPr/>
        </p:nvPicPr>
        <p:blipFill>
          <a:blip r:embed="rId5"/>
          <a:stretch>
            <a:fillRect/>
          </a:stretch>
        </p:blipFill>
        <p:spPr>
          <a:xfrm>
            <a:off x="2578608" y="3127248"/>
            <a:ext cx="374904" cy="374904"/>
          </a:xfrm>
          <a:prstGeom prst="rect">
            <a:avLst/>
          </a:prstGeom>
        </p:spPr>
      </p:pic>
      <p:sp>
        <p:nvSpPr>
          <p:cNvPr id="22" name="Text 16"/>
          <p:cNvSpPr/>
          <p:nvPr/>
        </p:nvSpPr>
        <p:spPr>
          <a:xfrm>
            <a:off x="320040" y="3063240"/>
            <a:ext cx="2194560" cy="411480"/>
          </a:xfrm>
          <a:prstGeom prst="rect">
            <a:avLst/>
          </a:prstGeom>
          <a:noFill/>
          <a:ln/>
        </p:spPr>
        <p:txBody>
          <a:bodyPr wrap="square" rtlCol="0" anchor="ctr"/>
          <a:lstStyle/>
          <a:p>
            <a:pPr marL="0" indent="0" algn="r" rtl="1">
              <a:buNone/>
            </a:pPr>
            <a:r>
              <a:rPr lang="en-US" b="1" dirty="0">
                <a:solidFill>
                  <a:srgbClr val="0077B6"/>
                </a:solidFill>
                <a:latin typeface="BIZ UDPMincho Medium" panose="02020500000000000000" pitchFamily="18" charset="-128"/>
                <a:ea typeface="BIZ UDPMincho Medium" panose="02020500000000000000" pitchFamily="18" charset="-128"/>
                <a:cs typeface="Calibri" pitchFamily="34" charset="-120"/>
              </a:rPr>
              <a:t>الإدخال والإخراج</a:t>
            </a:r>
            <a:endParaRPr lang="en-US" dirty="0">
              <a:latin typeface="BIZ UDPMincho Medium" panose="02020500000000000000" pitchFamily="18" charset="-128"/>
              <a:ea typeface="BIZ UDPMincho Medium" panose="02020500000000000000" pitchFamily="18" charset="-128"/>
            </a:endParaRPr>
          </a:p>
        </p:txBody>
      </p:sp>
      <p:sp>
        <p:nvSpPr>
          <p:cNvPr id="23" name="Text 17"/>
          <p:cNvSpPr/>
          <p:nvPr/>
        </p:nvSpPr>
        <p:spPr>
          <a:xfrm>
            <a:off x="320040" y="3474720"/>
            <a:ext cx="2651760" cy="1188720"/>
          </a:xfrm>
          <a:prstGeom prst="rect">
            <a:avLst/>
          </a:prstGeom>
          <a:noFill/>
          <a:ln/>
        </p:spPr>
        <p:txBody>
          <a:bodyPr wrap="square" rtlCol="0" anchor="t"/>
          <a:lstStyle/>
          <a:p>
            <a:pPr marL="0" indent="0" algn="ctr" rtl="1">
              <a:buNone/>
            </a:pPr>
            <a:r>
              <a:rPr lang="en-US" dirty="0">
                <a:solidFill>
                  <a:srgbClr val="334155"/>
                </a:solidFill>
                <a:latin typeface="BIZ UDPMincho Medium" panose="02020500000000000000" pitchFamily="18" charset="-128"/>
                <a:ea typeface="BIZ UDPMincho Medium" panose="02020500000000000000" pitchFamily="18" charset="-128"/>
                <a:cs typeface="Calibri" pitchFamily="34" charset="-120"/>
              </a:rPr>
              <a:t>لوحة المفاتيح، الفأرة، الشاشة، والطابعة: وسائل التواصل بين المستخدم والحاسوب.</a:t>
            </a:r>
            <a:endParaRPr lang="en-US" dirty="0">
              <a:latin typeface="BIZ UDPMincho Medium" panose="02020500000000000000" pitchFamily="18" charset="-128"/>
              <a:ea typeface="BIZ UDPMincho Medium" panose="02020500000000000000" pitchFamily="18" charset="-128"/>
            </a:endParaRPr>
          </a:p>
        </p:txBody>
      </p:sp>
      <p:sp>
        <p:nvSpPr>
          <p:cNvPr id="24" name="Shape 18"/>
          <p:cNvSpPr/>
          <p:nvPr/>
        </p:nvSpPr>
        <p:spPr>
          <a:xfrm>
            <a:off x="3154680" y="297180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25" name="Shape 19"/>
          <p:cNvSpPr/>
          <p:nvPr/>
        </p:nvSpPr>
        <p:spPr>
          <a:xfrm>
            <a:off x="5486400" y="3108960"/>
            <a:ext cx="411480" cy="411480"/>
          </a:xfrm>
          <a:prstGeom prst="ellipse">
            <a:avLst/>
          </a:prstGeom>
          <a:solidFill>
            <a:srgbClr val="EBF4FA"/>
          </a:solidFill>
          <a:ln w="12700">
            <a:solidFill>
              <a:srgbClr val="EBF4FA"/>
            </a:solidFill>
            <a:prstDash val="solid"/>
          </a:ln>
        </p:spPr>
      </p:sp>
      <p:pic>
        <p:nvPicPr>
          <p:cNvPr id="26" name="Image 4" descr="preencoded.png"/>
          <p:cNvPicPr>
            <a:picLocks noChangeAspect="1"/>
          </p:cNvPicPr>
          <p:nvPr/>
        </p:nvPicPr>
        <p:blipFill>
          <a:blip r:embed="rId6"/>
          <a:stretch>
            <a:fillRect/>
          </a:stretch>
        </p:blipFill>
        <p:spPr>
          <a:xfrm>
            <a:off x="5504688" y="3127248"/>
            <a:ext cx="374904" cy="374904"/>
          </a:xfrm>
          <a:prstGeom prst="rect">
            <a:avLst/>
          </a:prstGeom>
        </p:spPr>
      </p:pic>
      <p:sp>
        <p:nvSpPr>
          <p:cNvPr id="27" name="Text 20"/>
          <p:cNvSpPr/>
          <p:nvPr/>
        </p:nvSpPr>
        <p:spPr>
          <a:xfrm>
            <a:off x="3246120" y="3063240"/>
            <a:ext cx="2194560" cy="411480"/>
          </a:xfrm>
          <a:prstGeom prst="rect">
            <a:avLst/>
          </a:prstGeom>
          <a:noFill/>
          <a:ln/>
        </p:spPr>
        <p:txBody>
          <a:bodyPr wrap="square" rtlCol="0" anchor="ctr"/>
          <a:lstStyle/>
          <a:p>
            <a:pPr marL="0" indent="0" algn="r" rtl="1">
              <a:buNone/>
            </a:pPr>
            <a:r>
              <a:rPr lang="en-US" b="1" dirty="0">
                <a:solidFill>
                  <a:srgbClr val="0077B6"/>
                </a:solidFill>
                <a:latin typeface="BIZ UDPMincho Medium" panose="02020500000000000000" pitchFamily="18" charset="-128"/>
                <a:ea typeface="BIZ UDPMincho Medium" panose="02020500000000000000" pitchFamily="18" charset="-128"/>
                <a:cs typeface="Calibri" pitchFamily="34" charset="-120"/>
              </a:rPr>
              <a:t>بطاقة الشبكة</a:t>
            </a:r>
            <a:endParaRPr lang="en-US" dirty="0">
              <a:latin typeface="BIZ UDPMincho Medium" panose="02020500000000000000" pitchFamily="18" charset="-128"/>
              <a:ea typeface="BIZ UDPMincho Medium" panose="02020500000000000000" pitchFamily="18" charset="-128"/>
            </a:endParaRPr>
          </a:p>
        </p:txBody>
      </p:sp>
      <p:sp>
        <p:nvSpPr>
          <p:cNvPr id="28" name="Text 21"/>
          <p:cNvSpPr/>
          <p:nvPr/>
        </p:nvSpPr>
        <p:spPr>
          <a:xfrm>
            <a:off x="3457302" y="3474720"/>
            <a:ext cx="2440577" cy="1188720"/>
          </a:xfrm>
          <a:prstGeom prst="rect">
            <a:avLst/>
          </a:prstGeom>
          <a:noFill/>
          <a:ln/>
        </p:spPr>
        <p:txBody>
          <a:bodyPr wrap="square" rtlCol="0" anchor="t"/>
          <a:lstStyle/>
          <a:p>
            <a:pPr marL="0" indent="0" algn="just" rtl="1">
              <a:buNone/>
            </a:pPr>
            <a:r>
              <a:rPr lang="en-US" dirty="0">
                <a:solidFill>
                  <a:srgbClr val="334155"/>
                </a:solidFill>
                <a:latin typeface="BIZ UDPMincho Medium" panose="02020500000000000000" pitchFamily="18" charset="-128"/>
                <a:ea typeface="BIZ UDPMincho Medium" panose="02020500000000000000" pitchFamily="18" charset="-128"/>
                <a:cs typeface="Calibri" pitchFamily="34" charset="-120"/>
              </a:rPr>
              <a:t>تتيح الاتصال بالإنترنت والشبكات المحلية لتبادل البيانات مع الأجهزة الأخرى.</a:t>
            </a:r>
            <a:endParaRPr lang="en-US" dirty="0">
              <a:latin typeface="BIZ UDPMincho Medium" panose="02020500000000000000" pitchFamily="18" charset="-128"/>
              <a:ea typeface="BIZ UDPMincho Medium" panose="02020500000000000000" pitchFamily="18" charset="-128"/>
            </a:endParaRPr>
          </a:p>
        </p:txBody>
      </p:sp>
      <p:sp>
        <p:nvSpPr>
          <p:cNvPr id="29" name="Shape 22"/>
          <p:cNvSpPr/>
          <p:nvPr/>
        </p:nvSpPr>
        <p:spPr>
          <a:xfrm>
            <a:off x="6080760" y="297180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30" name="Shape 23"/>
          <p:cNvSpPr/>
          <p:nvPr/>
        </p:nvSpPr>
        <p:spPr>
          <a:xfrm>
            <a:off x="8412480" y="3108960"/>
            <a:ext cx="411480" cy="411480"/>
          </a:xfrm>
          <a:prstGeom prst="ellipse">
            <a:avLst/>
          </a:prstGeom>
          <a:solidFill>
            <a:srgbClr val="EBF4FA"/>
          </a:solidFill>
          <a:ln w="12700">
            <a:solidFill>
              <a:srgbClr val="EBF4FA"/>
            </a:solidFill>
            <a:prstDash val="solid"/>
          </a:ln>
        </p:spPr>
      </p:sp>
      <p:pic>
        <p:nvPicPr>
          <p:cNvPr id="31" name="Image 5" descr="preencoded.png"/>
          <p:cNvPicPr>
            <a:picLocks noChangeAspect="1"/>
          </p:cNvPicPr>
          <p:nvPr/>
        </p:nvPicPr>
        <p:blipFill>
          <a:blip r:embed="rId7"/>
          <a:stretch>
            <a:fillRect/>
          </a:stretch>
        </p:blipFill>
        <p:spPr>
          <a:xfrm>
            <a:off x="8430768" y="3127248"/>
            <a:ext cx="374904" cy="374904"/>
          </a:xfrm>
          <a:prstGeom prst="rect">
            <a:avLst/>
          </a:prstGeom>
        </p:spPr>
      </p:pic>
      <p:sp>
        <p:nvSpPr>
          <p:cNvPr id="32" name="Text 24"/>
          <p:cNvSpPr/>
          <p:nvPr/>
        </p:nvSpPr>
        <p:spPr>
          <a:xfrm>
            <a:off x="6172200" y="3063240"/>
            <a:ext cx="2194560" cy="411480"/>
          </a:xfrm>
          <a:prstGeom prst="rect">
            <a:avLst/>
          </a:prstGeom>
          <a:noFill/>
          <a:ln/>
        </p:spPr>
        <p:txBody>
          <a:bodyPr wrap="square" rtlCol="0" anchor="ctr"/>
          <a:lstStyle/>
          <a:p>
            <a:pPr marL="0" indent="0" algn="r" rtl="1">
              <a:buNone/>
            </a:pPr>
            <a:r>
              <a:rPr lang="en-US" b="1" dirty="0">
                <a:solidFill>
                  <a:srgbClr val="0077B6"/>
                </a:solidFill>
                <a:latin typeface="BIZ UDPMincho Medium" panose="02020500000000000000" pitchFamily="18" charset="-128"/>
                <a:ea typeface="BIZ UDPMincho Medium" panose="02020500000000000000" pitchFamily="18" charset="-128"/>
                <a:cs typeface="Calibri" pitchFamily="34" charset="-120"/>
              </a:rPr>
              <a:t>لوحة الأم</a:t>
            </a:r>
            <a:endParaRPr lang="en-US" dirty="0">
              <a:latin typeface="BIZ UDPMincho Medium" panose="02020500000000000000" pitchFamily="18" charset="-128"/>
              <a:ea typeface="BIZ UDPMincho Medium" panose="02020500000000000000" pitchFamily="18" charset="-128"/>
            </a:endParaRPr>
          </a:p>
        </p:txBody>
      </p:sp>
      <p:sp>
        <p:nvSpPr>
          <p:cNvPr id="33" name="Text 25"/>
          <p:cNvSpPr/>
          <p:nvPr/>
        </p:nvSpPr>
        <p:spPr>
          <a:xfrm>
            <a:off x="6172200" y="3474720"/>
            <a:ext cx="2651760" cy="1188720"/>
          </a:xfrm>
          <a:prstGeom prst="rect">
            <a:avLst/>
          </a:prstGeom>
          <a:noFill/>
          <a:ln/>
        </p:spPr>
        <p:txBody>
          <a:bodyPr wrap="square" rtlCol="0" anchor="t"/>
          <a:lstStyle/>
          <a:p>
            <a:pPr marL="0" indent="0" algn="just" rtl="1">
              <a:buNone/>
            </a:pPr>
            <a:r>
              <a:rPr lang="en-US" dirty="0">
                <a:solidFill>
                  <a:srgbClr val="334155"/>
                </a:solidFill>
                <a:latin typeface="BIZ UDPMincho Medium" panose="02020500000000000000" pitchFamily="18" charset="-128"/>
                <a:ea typeface="BIZ UDPMincho Medium" panose="02020500000000000000" pitchFamily="18" charset="-128"/>
                <a:cs typeface="Calibri" pitchFamily="34" charset="-120"/>
              </a:rPr>
              <a:t>الدائرة الرئيسية التي تربط جميع مكونات الحاسوب ببعضها وتنسق عملها معًا.</a:t>
            </a:r>
            <a:endParaRPr lang="en-US" dirty="0">
              <a:latin typeface="BIZ UDPMincho Medium" panose="02020500000000000000" pitchFamily="18" charset="-128"/>
              <a:ea typeface="BIZ UDPMincho Medium" panose="02020500000000000000" pitchFamily="18" charset="-128"/>
            </a:endParaRPr>
          </a:p>
        </p:txBody>
      </p:sp>
      <p:pic>
        <p:nvPicPr>
          <p:cNvPr id="36" name="Picture 35"/>
          <p:cNvPicPr>
            <a:picLocks noChangeAspect="1"/>
          </p:cNvPicPr>
          <p:nvPr/>
        </p:nvPicPr>
        <p:blipFill rotWithShape="1">
          <a:blip r:embed="rId8"/>
          <a:srcRect l="31595" t="36683" r="31490" b="27365"/>
          <a:stretch/>
        </p:blipFill>
        <p:spPr>
          <a:xfrm>
            <a:off x="2511565" y="1233900"/>
            <a:ext cx="460235" cy="3663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push dir="u"/>
      </p:transition>
    </mc:Choice>
    <mc:Fallback>
      <p:transition spd="slow">
        <p:push dir="u"/>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044"/>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B4D8"/>
          </a:solidFill>
          <a:ln w="12700">
            <a:solidFill>
              <a:srgbClr val="00B4D8"/>
            </a:solidFill>
            <a:prstDash val="solid"/>
          </a:ln>
        </p:spPr>
      </p:sp>
      <p:sp>
        <p:nvSpPr>
          <p:cNvPr id="3" name="Text 1"/>
          <p:cNvSpPr/>
          <p:nvPr/>
        </p:nvSpPr>
        <p:spPr>
          <a:xfrm>
            <a:off x="274320" y="0"/>
            <a:ext cx="8595360" cy="914400"/>
          </a:xfrm>
          <a:prstGeom prst="rect">
            <a:avLst/>
          </a:prstGeom>
          <a:noFill/>
          <a:ln/>
        </p:spPr>
        <p:txBody>
          <a:bodyPr wrap="square" rtlCol="0" anchor="ctr"/>
          <a:lstStyle/>
          <a:p>
            <a:pPr marL="0" indent="0" algn="ctr" rtl="1">
              <a:buNone/>
            </a:pPr>
            <a:r>
              <a:rPr lang="en-US" sz="2600" b="1" dirty="0">
                <a:solidFill>
                  <a:srgbClr val="0F2044"/>
                </a:solidFill>
                <a:latin typeface="Calibri" pitchFamily="34" charset="0"/>
                <a:ea typeface="Calibri" pitchFamily="34" charset="-122"/>
                <a:cs typeface="Calibri" pitchFamily="34" charset="-120"/>
              </a:rPr>
              <a:t>البرمجيات (Software)</a:t>
            </a:r>
            <a:endParaRPr lang="en-US" sz="2600" dirty="0"/>
          </a:p>
        </p:txBody>
      </p:sp>
      <p:sp>
        <p:nvSpPr>
          <p:cNvPr id="4" name="Shape 2"/>
          <p:cNvSpPr/>
          <p:nvPr/>
        </p:nvSpPr>
        <p:spPr>
          <a:xfrm>
            <a:off x="228600" y="1051560"/>
            <a:ext cx="2834640" cy="3840480"/>
          </a:xfrm>
          <a:prstGeom prst="rect">
            <a:avLst/>
          </a:prstGeom>
          <a:solidFill>
            <a:srgbClr val="023E8A"/>
          </a:solidFill>
          <a:ln/>
        </p:spPr>
      </p:sp>
      <p:sp>
        <p:nvSpPr>
          <p:cNvPr id="5" name="Text 3"/>
          <p:cNvSpPr/>
          <p:nvPr/>
        </p:nvSpPr>
        <p:spPr>
          <a:xfrm>
            <a:off x="228600" y="1097280"/>
            <a:ext cx="2834640" cy="640080"/>
          </a:xfrm>
          <a:prstGeom prst="rect">
            <a:avLst/>
          </a:prstGeom>
          <a:noFill/>
          <a:ln/>
        </p:spPr>
        <p:txBody>
          <a:bodyPr wrap="square" rtlCol="0" anchor="ctr"/>
          <a:lstStyle/>
          <a:p>
            <a:pPr marL="0" indent="0" algn="ctr" rtl="1">
              <a:buNone/>
            </a:pPr>
            <a:r>
              <a:rPr lang="en-US" sz="1500" b="1" dirty="0">
                <a:solidFill>
                  <a:srgbClr val="FFFFFF"/>
                </a:solidFill>
                <a:latin typeface="Calibri" pitchFamily="34" charset="0"/>
                <a:ea typeface="Calibri" pitchFamily="34" charset="-122"/>
                <a:cs typeface="Calibri" pitchFamily="34" charset="-120"/>
              </a:rPr>
              <a:t>برمجيات النظام</a:t>
            </a:r>
            <a:endParaRPr lang="en-US" sz="1500" dirty="0"/>
          </a:p>
        </p:txBody>
      </p:sp>
      <p:sp>
        <p:nvSpPr>
          <p:cNvPr id="6" name="Shape 4"/>
          <p:cNvSpPr/>
          <p:nvPr/>
        </p:nvSpPr>
        <p:spPr>
          <a:xfrm>
            <a:off x="502920" y="1737360"/>
            <a:ext cx="2286000" cy="36576"/>
          </a:xfrm>
          <a:prstGeom prst="rect">
            <a:avLst/>
          </a:prstGeom>
          <a:solidFill>
            <a:srgbClr val="FFFFFF">
              <a:alpha val="40000"/>
            </a:srgbClr>
          </a:solidFill>
          <a:ln w="12700">
            <a:solidFill>
              <a:srgbClr val="FFFFFF">
                <a:alpha val="40000"/>
              </a:srgbClr>
            </a:solidFill>
            <a:prstDash val="solid"/>
          </a:ln>
        </p:spPr>
      </p:sp>
      <p:sp>
        <p:nvSpPr>
          <p:cNvPr id="7" name="Text 5"/>
          <p:cNvSpPr/>
          <p:nvPr/>
        </p:nvSpPr>
        <p:spPr>
          <a:xfrm>
            <a:off x="320040" y="1920240"/>
            <a:ext cx="2651760" cy="777240"/>
          </a:xfrm>
          <a:prstGeom prst="rect">
            <a:avLst/>
          </a:prstGeom>
          <a:noFill/>
          <a:ln/>
        </p:spPr>
        <p:txBody>
          <a:bodyPr wrap="square" rtlCol="0" anchor="ctr"/>
          <a:lstStyle/>
          <a:p>
            <a:pPr marL="0" indent="0" algn="ctr">
              <a:buNone/>
            </a:pPr>
            <a:r>
              <a:rPr lang="ar-DZ" sz="1600" b="1" dirty="0" smtClean="0">
                <a:solidFill>
                  <a:srgbClr val="FFFFFF"/>
                </a:solidFill>
                <a:latin typeface="Calibri" pitchFamily="34" charset="0"/>
                <a:ea typeface="Calibri" pitchFamily="34" charset="-122"/>
                <a:cs typeface="Calibri" pitchFamily="34" charset="-120"/>
              </a:rPr>
              <a:t>أنظمة التشغيل</a:t>
            </a:r>
            <a:r>
              <a:rPr lang="en-US" sz="1600" b="1" dirty="0" smtClean="0">
                <a:solidFill>
                  <a:srgbClr val="FFFFFF"/>
                </a:solidFill>
                <a:latin typeface="Calibri" pitchFamily="34" charset="0"/>
                <a:ea typeface="Calibri" pitchFamily="34" charset="-122"/>
                <a:cs typeface="Calibri" pitchFamily="34" charset="-120"/>
              </a:rPr>
              <a:t>: </a:t>
            </a:r>
            <a:r>
              <a:rPr lang="en-US" sz="1600" b="1" dirty="0">
                <a:solidFill>
                  <a:srgbClr val="FFFFFF"/>
                </a:solidFill>
                <a:latin typeface="Calibri" pitchFamily="34" charset="0"/>
                <a:ea typeface="Calibri" pitchFamily="34" charset="-122"/>
                <a:cs typeface="Calibri" pitchFamily="34" charset="-120"/>
              </a:rPr>
              <a:t>Windows، Linux، MacOS</a:t>
            </a:r>
            <a:endParaRPr lang="en-US" sz="1600" b="1" dirty="0"/>
          </a:p>
        </p:txBody>
      </p:sp>
      <p:sp>
        <p:nvSpPr>
          <p:cNvPr id="8" name="Text 6"/>
          <p:cNvSpPr/>
          <p:nvPr/>
        </p:nvSpPr>
        <p:spPr>
          <a:xfrm>
            <a:off x="320040" y="2788920"/>
            <a:ext cx="2651760" cy="777240"/>
          </a:xfrm>
          <a:prstGeom prst="rect">
            <a:avLst/>
          </a:prstGeom>
          <a:noFill/>
          <a:ln/>
        </p:spPr>
        <p:txBody>
          <a:bodyPr wrap="square" rtlCol="0" anchor="ctr"/>
          <a:lstStyle/>
          <a:p>
            <a:pPr marL="0" indent="0" algn="ctr">
              <a:buNone/>
            </a:pPr>
            <a:r>
              <a:rPr lang="ar-DZ" sz="1600" b="1" dirty="0" smtClean="0">
                <a:solidFill>
                  <a:srgbClr val="FFFFFF"/>
                </a:solidFill>
                <a:latin typeface="Calibri" pitchFamily="34" charset="0"/>
                <a:ea typeface="Calibri" pitchFamily="34" charset="-122"/>
                <a:cs typeface="Calibri" pitchFamily="34" charset="-120"/>
              </a:rPr>
              <a:t> برامج إدارة الأجهزة</a:t>
            </a:r>
            <a:endParaRPr lang="en-US" sz="1600" b="1" dirty="0"/>
          </a:p>
        </p:txBody>
      </p:sp>
      <p:sp>
        <p:nvSpPr>
          <p:cNvPr id="9" name="Text 7"/>
          <p:cNvSpPr/>
          <p:nvPr/>
        </p:nvSpPr>
        <p:spPr>
          <a:xfrm>
            <a:off x="320040" y="3657600"/>
            <a:ext cx="2651760" cy="777240"/>
          </a:xfrm>
          <a:prstGeom prst="rect">
            <a:avLst/>
          </a:prstGeom>
          <a:noFill/>
          <a:ln/>
        </p:spPr>
        <p:txBody>
          <a:bodyPr wrap="square" rtlCol="0" anchor="ctr"/>
          <a:lstStyle/>
          <a:p>
            <a:pPr marL="0" indent="0" algn="ctr">
              <a:buNone/>
            </a:pPr>
            <a:r>
              <a:rPr lang="ar-DZ" sz="1600" b="1" dirty="0" smtClean="0">
                <a:solidFill>
                  <a:srgbClr val="FFFFFF"/>
                </a:solidFill>
                <a:latin typeface="Calibri" pitchFamily="34" charset="0"/>
                <a:ea typeface="Calibri" pitchFamily="34" charset="-122"/>
                <a:cs typeface="Calibri" pitchFamily="34" charset="-120"/>
              </a:rPr>
              <a:t>برامج الأمان والحماية</a:t>
            </a:r>
            <a:endParaRPr lang="en-US" sz="1600" b="1" dirty="0"/>
          </a:p>
        </p:txBody>
      </p:sp>
      <p:sp>
        <p:nvSpPr>
          <p:cNvPr id="10" name="Shape 8"/>
          <p:cNvSpPr/>
          <p:nvPr/>
        </p:nvSpPr>
        <p:spPr>
          <a:xfrm>
            <a:off x="3122023" y="1051560"/>
            <a:ext cx="2834640" cy="3840480"/>
          </a:xfrm>
          <a:prstGeom prst="rect">
            <a:avLst/>
          </a:prstGeom>
          <a:solidFill>
            <a:srgbClr val="0077B6"/>
          </a:solidFill>
          <a:ln/>
        </p:spPr>
      </p:sp>
      <p:sp>
        <p:nvSpPr>
          <p:cNvPr id="11" name="Text 9"/>
          <p:cNvSpPr/>
          <p:nvPr/>
        </p:nvSpPr>
        <p:spPr>
          <a:xfrm>
            <a:off x="3154680" y="1097280"/>
            <a:ext cx="2834640" cy="640080"/>
          </a:xfrm>
          <a:prstGeom prst="rect">
            <a:avLst/>
          </a:prstGeom>
          <a:noFill/>
          <a:ln/>
        </p:spPr>
        <p:txBody>
          <a:bodyPr wrap="square" rtlCol="0" anchor="ctr"/>
          <a:lstStyle/>
          <a:p>
            <a:pPr marL="0" indent="0" algn="ctr" rtl="1">
              <a:buNone/>
            </a:pPr>
            <a:r>
              <a:rPr lang="en-US" sz="1500" b="1" dirty="0">
                <a:solidFill>
                  <a:srgbClr val="FFFFFF"/>
                </a:solidFill>
                <a:latin typeface="Calibri" pitchFamily="34" charset="0"/>
                <a:ea typeface="Calibri" pitchFamily="34" charset="-122"/>
                <a:cs typeface="Calibri" pitchFamily="34" charset="-120"/>
              </a:rPr>
              <a:t>برمجيات التطبيقات</a:t>
            </a:r>
            <a:endParaRPr lang="en-US" sz="1500" dirty="0"/>
          </a:p>
        </p:txBody>
      </p:sp>
      <p:sp>
        <p:nvSpPr>
          <p:cNvPr id="12" name="Shape 10"/>
          <p:cNvSpPr/>
          <p:nvPr/>
        </p:nvSpPr>
        <p:spPr>
          <a:xfrm>
            <a:off x="3429000" y="1737360"/>
            <a:ext cx="2286000" cy="36576"/>
          </a:xfrm>
          <a:prstGeom prst="rect">
            <a:avLst/>
          </a:prstGeom>
          <a:solidFill>
            <a:srgbClr val="FFFFFF">
              <a:alpha val="40000"/>
            </a:srgbClr>
          </a:solidFill>
          <a:ln w="12700">
            <a:solidFill>
              <a:srgbClr val="FFFFFF">
                <a:alpha val="40000"/>
              </a:srgbClr>
            </a:solidFill>
            <a:prstDash val="solid"/>
          </a:ln>
        </p:spPr>
      </p:sp>
      <p:sp>
        <p:nvSpPr>
          <p:cNvPr id="13" name="Text 11"/>
          <p:cNvSpPr/>
          <p:nvPr/>
        </p:nvSpPr>
        <p:spPr>
          <a:xfrm>
            <a:off x="3246120" y="1920240"/>
            <a:ext cx="2651760" cy="777240"/>
          </a:xfrm>
          <a:prstGeom prst="rect">
            <a:avLst/>
          </a:prstGeom>
          <a:noFill/>
          <a:ln/>
        </p:spPr>
        <p:txBody>
          <a:bodyPr wrap="square" rtlCol="0" anchor="ctr"/>
          <a:lstStyle/>
          <a:p>
            <a:pPr marL="0" indent="0" algn="ctr">
              <a:buNone/>
            </a:pPr>
            <a:r>
              <a:rPr lang="ar-DZ" sz="1400" b="1" dirty="0" smtClean="0">
                <a:solidFill>
                  <a:srgbClr val="FFFFFF"/>
                </a:solidFill>
                <a:latin typeface="Calibri" pitchFamily="34" charset="0"/>
                <a:ea typeface="Calibri" pitchFamily="34" charset="-122"/>
                <a:cs typeface="Calibri" pitchFamily="34" charset="-120"/>
              </a:rPr>
              <a:t>برامج المحاسبة وإدارة المشاريع</a:t>
            </a:r>
            <a:endParaRPr lang="en-US" sz="1400" b="1" dirty="0"/>
          </a:p>
        </p:txBody>
      </p:sp>
      <p:sp>
        <p:nvSpPr>
          <p:cNvPr id="14" name="Text 12"/>
          <p:cNvSpPr/>
          <p:nvPr/>
        </p:nvSpPr>
        <p:spPr>
          <a:xfrm>
            <a:off x="3246120" y="2788920"/>
            <a:ext cx="2651760" cy="777240"/>
          </a:xfrm>
          <a:prstGeom prst="rect">
            <a:avLst/>
          </a:prstGeom>
          <a:noFill/>
          <a:ln/>
        </p:spPr>
        <p:txBody>
          <a:bodyPr wrap="square" rtlCol="0" anchor="ctr"/>
          <a:lstStyle/>
          <a:p>
            <a:pPr marL="0" indent="0" algn="ctr">
              <a:buNone/>
            </a:pPr>
            <a:r>
              <a:rPr lang="ar-DZ" sz="1400" b="1" dirty="0" smtClean="0">
                <a:solidFill>
                  <a:srgbClr val="FFFFFF"/>
                </a:solidFill>
                <a:latin typeface="Calibri" pitchFamily="34" charset="0"/>
                <a:ea typeface="Calibri" pitchFamily="34" charset="-122"/>
                <a:cs typeface="Calibri" pitchFamily="34" charset="-120"/>
              </a:rPr>
              <a:t>التصميم الجرافيكي والمعالجة المرئية</a:t>
            </a:r>
            <a:endParaRPr lang="en-US" sz="1400" b="1" dirty="0"/>
          </a:p>
        </p:txBody>
      </p:sp>
      <p:sp>
        <p:nvSpPr>
          <p:cNvPr id="15" name="Text 13"/>
          <p:cNvSpPr/>
          <p:nvPr/>
        </p:nvSpPr>
        <p:spPr>
          <a:xfrm>
            <a:off x="3246120" y="3657600"/>
            <a:ext cx="2651760" cy="777240"/>
          </a:xfrm>
          <a:prstGeom prst="rect">
            <a:avLst/>
          </a:prstGeom>
          <a:noFill/>
          <a:ln/>
        </p:spPr>
        <p:txBody>
          <a:bodyPr wrap="square" rtlCol="0" anchor="ctr"/>
          <a:lstStyle/>
          <a:p>
            <a:pPr marL="0" indent="0" algn="ctr">
              <a:buNone/>
            </a:pPr>
            <a:r>
              <a:rPr lang="ar-DZ" sz="1400" b="1" dirty="0" smtClean="0">
                <a:solidFill>
                  <a:srgbClr val="FFFFFF"/>
                </a:solidFill>
                <a:latin typeface="Calibri" pitchFamily="34" charset="0"/>
                <a:cs typeface="Calibri" pitchFamily="34" charset="-120"/>
              </a:rPr>
              <a:t>برامج قواعد البيانات</a:t>
            </a:r>
            <a:endParaRPr lang="en-US" sz="1400" b="1" dirty="0"/>
          </a:p>
        </p:txBody>
      </p:sp>
      <p:sp>
        <p:nvSpPr>
          <p:cNvPr id="16" name="Shape 14"/>
          <p:cNvSpPr/>
          <p:nvPr/>
        </p:nvSpPr>
        <p:spPr>
          <a:xfrm>
            <a:off x="6080760" y="1051560"/>
            <a:ext cx="2834640" cy="3840480"/>
          </a:xfrm>
          <a:prstGeom prst="rect">
            <a:avLst/>
          </a:prstGeom>
          <a:solidFill>
            <a:srgbClr val="0096C7"/>
          </a:solidFill>
          <a:ln/>
        </p:spPr>
      </p:sp>
      <p:sp>
        <p:nvSpPr>
          <p:cNvPr id="17" name="Text 15"/>
          <p:cNvSpPr/>
          <p:nvPr/>
        </p:nvSpPr>
        <p:spPr>
          <a:xfrm>
            <a:off x="6080760" y="1097280"/>
            <a:ext cx="2834640" cy="640080"/>
          </a:xfrm>
          <a:prstGeom prst="rect">
            <a:avLst/>
          </a:prstGeom>
          <a:noFill/>
          <a:ln/>
        </p:spPr>
        <p:txBody>
          <a:bodyPr wrap="square" rtlCol="0" anchor="ctr"/>
          <a:lstStyle/>
          <a:p>
            <a:pPr marL="0" indent="0" algn="ctr" rtl="1">
              <a:buNone/>
            </a:pPr>
            <a:r>
              <a:rPr lang="en-US" sz="1500" b="1" dirty="0">
                <a:solidFill>
                  <a:srgbClr val="FFFFFF"/>
                </a:solidFill>
                <a:latin typeface="Calibri" pitchFamily="34" charset="0"/>
                <a:ea typeface="Calibri" pitchFamily="34" charset="-122"/>
                <a:cs typeface="Calibri" pitchFamily="34" charset="-120"/>
              </a:rPr>
              <a:t>برمجيات التطوير</a:t>
            </a:r>
            <a:endParaRPr lang="en-US" sz="1500" dirty="0"/>
          </a:p>
        </p:txBody>
      </p:sp>
      <p:sp>
        <p:nvSpPr>
          <p:cNvPr id="18" name="Shape 16"/>
          <p:cNvSpPr/>
          <p:nvPr/>
        </p:nvSpPr>
        <p:spPr>
          <a:xfrm>
            <a:off x="6355080" y="1737360"/>
            <a:ext cx="2286000" cy="36576"/>
          </a:xfrm>
          <a:prstGeom prst="rect">
            <a:avLst/>
          </a:prstGeom>
          <a:solidFill>
            <a:srgbClr val="FFFFFF">
              <a:alpha val="40000"/>
            </a:srgbClr>
          </a:solidFill>
          <a:ln w="12700">
            <a:solidFill>
              <a:srgbClr val="FFFFFF">
                <a:alpha val="40000"/>
              </a:srgbClr>
            </a:solidFill>
            <a:prstDash val="solid"/>
          </a:ln>
        </p:spPr>
      </p:sp>
      <p:sp>
        <p:nvSpPr>
          <p:cNvPr id="19" name="Text 17"/>
          <p:cNvSpPr/>
          <p:nvPr/>
        </p:nvSpPr>
        <p:spPr>
          <a:xfrm>
            <a:off x="6172200" y="1920240"/>
            <a:ext cx="2651760" cy="777240"/>
          </a:xfrm>
          <a:prstGeom prst="rect">
            <a:avLst/>
          </a:prstGeom>
          <a:noFill/>
          <a:ln/>
        </p:spPr>
        <p:txBody>
          <a:bodyPr wrap="square" rtlCol="0" anchor="ctr"/>
          <a:lstStyle/>
          <a:p>
            <a:pPr marL="0" indent="0" algn="ctr">
              <a:buNone/>
            </a:pPr>
            <a:r>
              <a:rPr lang="ar-DZ" sz="1600" b="1" dirty="0" smtClean="0">
                <a:solidFill>
                  <a:srgbClr val="FFFFFF"/>
                </a:solidFill>
                <a:latin typeface="Calibri" pitchFamily="34" charset="0"/>
                <a:ea typeface="Calibri" pitchFamily="34" charset="-122"/>
                <a:cs typeface="Calibri" pitchFamily="34" charset="-120"/>
              </a:rPr>
              <a:t>لغات البرمجة</a:t>
            </a:r>
            <a:r>
              <a:rPr lang="en-US" sz="1600" b="1" dirty="0" smtClean="0">
                <a:solidFill>
                  <a:srgbClr val="FFFFFF"/>
                </a:solidFill>
                <a:latin typeface="Calibri" pitchFamily="34" charset="0"/>
                <a:ea typeface="Calibri" pitchFamily="34" charset="-122"/>
                <a:cs typeface="Calibri" pitchFamily="34" charset="-120"/>
              </a:rPr>
              <a:t>: </a:t>
            </a:r>
            <a:r>
              <a:rPr lang="en-US" sz="1600" b="1" dirty="0">
                <a:solidFill>
                  <a:srgbClr val="FFFFFF"/>
                </a:solidFill>
                <a:latin typeface="Calibri" pitchFamily="34" charset="0"/>
                <a:ea typeface="Calibri" pitchFamily="34" charset="-122"/>
                <a:cs typeface="Calibri" pitchFamily="34" charset="-120"/>
              </a:rPr>
              <a:t>Python، Java، C++</a:t>
            </a:r>
            <a:endParaRPr lang="en-US" sz="1600" b="1" dirty="0"/>
          </a:p>
        </p:txBody>
      </p:sp>
      <p:sp>
        <p:nvSpPr>
          <p:cNvPr id="20" name="Text 18"/>
          <p:cNvSpPr/>
          <p:nvPr/>
        </p:nvSpPr>
        <p:spPr>
          <a:xfrm>
            <a:off x="6172200" y="2788920"/>
            <a:ext cx="2651760" cy="777240"/>
          </a:xfrm>
          <a:prstGeom prst="rect">
            <a:avLst/>
          </a:prstGeom>
          <a:noFill/>
          <a:ln/>
        </p:spPr>
        <p:txBody>
          <a:bodyPr wrap="square" rtlCol="0" anchor="ctr"/>
          <a:lstStyle/>
          <a:p>
            <a:pPr marL="0" indent="0" algn="ctr">
              <a:buNone/>
            </a:pPr>
            <a:r>
              <a:rPr lang="ar-DZ" sz="1600" b="1" dirty="0" smtClean="0">
                <a:solidFill>
                  <a:srgbClr val="FFFFFF"/>
                </a:solidFill>
                <a:latin typeface="Calibri" pitchFamily="34" charset="0"/>
                <a:ea typeface="Calibri" pitchFamily="34" charset="-122"/>
                <a:cs typeface="Calibri" pitchFamily="34" charset="-120"/>
              </a:rPr>
              <a:t>بيئات التطوير المتكاملة</a:t>
            </a:r>
            <a:endParaRPr lang="en-US" sz="1600" b="1" dirty="0"/>
          </a:p>
        </p:txBody>
      </p:sp>
      <p:sp>
        <p:nvSpPr>
          <p:cNvPr id="21" name="Text 19"/>
          <p:cNvSpPr/>
          <p:nvPr/>
        </p:nvSpPr>
        <p:spPr>
          <a:xfrm>
            <a:off x="6172200" y="3657600"/>
            <a:ext cx="2651760" cy="777240"/>
          </a:xfrm>
          <a:prstGeom prst="rect">
            <a:avLst/>
          </a:prstGeom>
          <a:noFill/>
          <a:ln/>
        </p:spPr>
        <p:txBody>
          <a:bodyPr wrap="square" rtlCol="0" anchor="ctr"/>
          <a:lstStyle/>
          <a:p>
            <a:pPr marL="0" indent="0" algn="ctr">
              <a:buNone/>
            </a:pPr>
            <a:r>
              <a:rPr lang="ar-DZ" sz="1600" b="1" dirty="0" smtClean="0">
                <a:solidFill>
                  <a:srgbClr val="FFFFFF"/>
                </a:solidFill>
                <a:latin typeface="Calibri" pitchFamily="34" charset="0"/>
                <a:ea typeface="Calibri" pitchFamily="34" charset="-122"/>
                <a:cs typeface="Calibri" pitchFamily="34" charset="-120"/>
              </a:rPr>
              <a:t>أطر العمل</a:t>
            </a:r>
            <a:endParaRPr lang="en-US" sz="1600" b="1" dirty="0"/>
          </a:p>
        </p:txBody>
      </p:sp>
    </p:spTree>
  </p:cSld>
  <p:clrMapOvr>
    <a:masterClrMapping/>
  </p:clrMapOvr>
  <mc:AlternateContent xmlns:mc="http://schemas.openxmlformats.org/markup-compatibility/2006">
    <mc:Choice xmlns:p14="http://schemas.microsoft.com/office/powerpoint/2010/main" Requires="p14">
      <p:transition spd="slow" p14:dur="2000">
        <p:push dir="u"/>
      </p:transition>
    </mc:Choice>
    <mc:Fallback>
      <p:transition spd="slow">
        <p:push dir="u"/>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B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4"/>
          </a:solidFill>
          <a:ln w="12700">
            <a:solidFill>
              <a:srgbClr val="0F2044"/>
            </a:solidFill>
            <a:prstDash val="solid"/>
          </a:ln>
        </p:spPr>
      </p:sp>
      <p:sp>
        <p:nvSpPr>
          <p:cNvPr id="3" name="Text 1"/>
          <p:cNvSpPr/>
          <p:nvPr/>
        </p:nvSpPr>
        <p:spPr>
          <a:xfrm>
            <a:off x="274320" y="0"/>
            <a:ext cx="8595360" cy="914400"/>
          </a:xfrm>
          <a:prstGeom prst="rect">
            <a:avLst/>
          </a:prstGeom>
          <a:noFill/>
          <a:ln/>
        </p:spPr>
        <p:txBody>
          <a:bodyPr wrap="square" rtlCol="0" anchor="ctr"/>
          <a:lstStyle/>
          <a:p>
            <a:pPr marL="0" indent="0" algn="ctr" rtl="1">
              <a:buNone/>
            </a:pPr>
            <a:r>
              <a:rPr lang="en-US" sz="2600" b="1" dirty="0">
                <a:solidFill>
                  <a:srgbClr val="FFFFFF"/>
                </a:solidFill>
                <a:latin typeface="Calibri" pitchFamily="34" charset="0"/>
                <a:ea typeface="Calibri" pitchFamily="34" charset="-122"/>
                <a:cs typeface="Calibri" pitchFamily="34" charset="-120"/>
              </a:rPr>
              <a:t>أهمية الإعلام الآلي في مجالات الحياة</a:t>
            </a:r>
            <a:endParaRPr lang="en-US" sz="2600" dirty="0"/>
          </a:p>
        </p:txBody>
      </p:sp>
      <p:sp>
        <p:nvSpPr>
          <p:cNvPr id="4" name="Shape 2"/>
          <p:cNvSpPr/>
          <p:nvPr/>
        </p:nvSpPr>
        <p:spPr>
          <a:xfrm>
            <a:off x="228600" y="105156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5" name="Shape 3"/>
          <p:cNvSpPr/>
          <p:nvPr/>
        </p:nvSpPr>
        <p:spPr>
          <a:xfrm>
            <a:off x="228600" y="1051560"/>
            <a:ext cx="2834640" cy="411480"/>
          </a:xfrm>
          <a:prstGeom prst="rect">
            <a:avLst/>
          </a:prstGeom>
          <a:solidFill>
            <a:srgbClr val="0077B6"/>
          </a:solidFill>
          <a:ln w="12700">
            <a:solidFill>
              <a:srgbClr val="0077B6"/>
            </a:solidFill>
            <a:prstDash val="solid"/>
          </a:ln>
        </p:spPr>
      </p:sp>
      <p:sp>
        <p:nvSpPr>
          <p:cNvPr id="6" name="Text 4"/>
          <p:cNvSpPr/>
          <p:nvPr/>
        </p:nvSpPr>
        <p:spPr>
          <a:xfrm>
            <a:off x="274320" y="1051560"/>
            <a:ext cx="2743200" cy="411480"/>
          </a:xfrm>
          <a:prstGeom prst="rect">
            <a:avLst/>
          </a:prstGeom>
          <a:noFill/>
          <a:ln/>
        </p:spPr>
        <p:txBody>
          <a:bodyPr wrap="square" rtlCol="0" anchor="ctr"/>
          <a:lstStyle/>
          <a:p>
            <a:pPr marL="0" indent="0" algn="r" rtl="1">
              <a:buNone/>
            </a:pPr>
            <a:r>
              <a:rPr lang="en-US" sz="1300" b="1" dirty="0">
                <a:solidFill>
                  <a:srgbClr val="FFFFFF"/>
                </a:solidFill>
                <a:latin typeface="Calibri" pitchFamily="34" charset="0"/>
                <a:ea typeface="Calibri" pitchFamily="34" charset="-122"/>
                <a:cs typeface="Calibri" pitchFamily="34" charset="-120"/>
              </a:rPr>
              <a:t>🎓  التعليم</a:t>
            </a:r>
            <a:endParaRPr lang="en-US" sz="1300" dirty="0"/>
          </a:p>
        </p:txBody>
      </p:sp>
      <p:sp>
        <p:nvSpPr>
          <p:cNvPr id="7" name="Text 5"/>
          <p:cNvSpPr/>
          <p:nvPr/>
        </p:nvSpPr>
        <p:spPr>
          <a:xfrm>
            <a:off x="320040" y="1508760"/>
            <a:ext cx="2651760" cy="1234440"/>
          </a:xfrm>
          <a:prstGeom prst="rect">
            <a:avLst/>
          </a:prstGeom>
          <a:noFill/>
          <a:ln/>
        </p:spPr>
        <p:txBody>
          <a:bodyPr wrap="square" rtlCol="0" anchor="t"/>
          <a:lstStyle/>
          <a:p>
            <a:pPr marL="0" indent="0" algn="ctr" rtl="1">
              <a:buNone/>
            </a:pPr>
            <a:r>
              <a:rPr lang="en-US" sz="1600" b="1" dirty="0">
                <a:solidFill>
                  <a:srgbClr val="334155"/>
                </a:solidFill>
                <a:latin typeface="BIZ UDPMincho Medium" panose="02020500000000000000" pitchFamily="18" charset="-128"/>
                <a:ea typeface="BIZ UDPMincho Medium" panose="02020500000000000000" pitchFamily="18" charset="-128"/>
                <a:cs typeface="Calibri" pitchFamily="34" charset="-120"/>
              </a:rPr>
              <a:t>منصات التعلم الإلكتروني، مكتبات رقمية، فصول افتراضية، تعليم مخصص بالذكاء الاصطناعي.</a:t>
            </a:r>
            <a:endParaRPr lang="en-US" sz="1600" b="1" dirty="0">
              <a:latin typeface="BIZ UDPMincho Medium" panose="02020500000000000000" pitchFamily="18" charset="-128"/>
              <a:ea typeface="BIZ UDPMincho Medium" panose="02020500000000000000" pitchFamily="18" charset="-128"/>
            </a:endParaRPr>
          </a:p>
        </p:txBody>
      </p:sp>
      <p:sp>
        <p:nvSpPr>
          <p:cNvPr id="8" name="Shape 6"/>
          <p:cNvSpPr/>
          <p:nvPr/>
        </p:nvSpPr>
        <p:spPr>
          <a:xfrm>
            <a:off x="3154680" y="105156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9" name="Shape 7"/>
          <p:cNvSpPr/>
          <p:nvPr/>
        </p:nvSpPr>
        <p:spPr>
          <a:xfrm>
            <a:off x="3154680" y="1051560"/>
            <a:ext cx="2834640" cy="411480"/>
          </a:xfrm>
          <a:prstGeom prst="rect">
            <a:avLst/>
          </a:prstGeom>
          <a:solidFill>
            <a:srgbClr val="023E8A"/>
          </a:solidFill>
          <a:ln w="12700">
            <a:solidFill>
              <a:srgbClr val="023E8A"/>
            </a:solidFill>
            <a:prstDash val="solid"/>
          </a:ln>
        </p:spPr>
      </p:sp>
      <p:sp>
        <p:nvSpPr>
          <p:cNvPr id="10" name="Text 8"/>
          <p:cNvSpPr/>
          <p:nvPr/>
        </p:nvSpPr>
        <p:spPr>
          <a:xfrm>
            <a:off x="3200400" y="1051560"/>
            <a:ext cx="2743200" cy="411480"/>
          </a:xfrm>
          <a:prstGeom prst="rect">
            <a:avLst/>
          </a:prstGeom>
          <a:noFill/>
          <a:ln/>
        </p:spPr>
        <p:txBody>
          <a:bodyPr wrap="square" rtlCol="0" anchor="ctr"/>
          <a:lstStyle/>
          <a:p>
            <a:pPr marL="0" indent="0" algn="r" rtl="1">
              <a:buNone/>
            </a:pPr>
            <a:r>
              <a:rPr lang="en-US" sz="1300" b="1" dirty="0">
                <a:solidFill>
                  <a:srgbClr val="FFFFFF"/>
                </a:solidFill>
                <a:latin typeface="Calibri" pitchFamily="34" charset="0"/>
                <a:ea typeface="Calibri" pitchFamily="34" charset="-122"/>
                <a:cs typeface="Calibri" pitchFamily="34" charset="-120"/>
              </a:rPr>
              <a:t>🏥  الطب والصحة</a:t>
            </a:r>
            <a:endParaRPr lang="en-US" sz="1300" dirty="0"/>
          </a:p>
        </p:txBody>
      </p:sp>
      <p:sp>
        <p:nvSpPr>
          <p:cNvPr id="11" name="Text 9"/>
          <p:cNvSpPr/>
          <p:nvPr/>
        </p:nvSpPr>
        <p:spPr>
          <a:xfrm>
            <a:off x="3326859" y="1577340"/>
            <a:ext cx="2143003" cy="1234440"/>
          </a:xfrm>
          <a:prstGeom prst="rect">
            <a:avLst/>
          </a:prstGeom>
          <a:noFill/>
          <a:ln/>
        </p:spPr>
        <p:txBody>
          <a:bodyPr wrap="square" rtlCol="0" anchor="t"/>
          <a:lstStyle/>
          <a:p>
            <a:pPr marL="0" indent="0" algn="ctr" rtl="1">
              <a:buNone/>
            </a:pPr>
            <a:r>
              <a:rPr lang="en-US" sz="1600" b="1" dirty="0">
                <a:solidFill>
                  <a:srgbClr val="334155"/>
                </a:solidFill>
                <a:latin typeface="BIZ UDPMincho Medium" panose="02020500000000000000" pitchFamily="18" charset="-128"/>
                <a:ea typeface="BIZ UDPMincho Medium" panose="02020500000000000000" pitchFamily="18" charset="-128"/>
                <a:cs typeface="Calibri" pitchFamily="34" charset="-120"/>
              </a:rPr>
              <a:t>تشخيص ذكي، سجلات طبية إلكترونية، جراحة روبوتية، اكتشاف أدوية.</a:t>
            </a:r>
            <a:endParaRPr lang="en-US" sz="1600" b="1" dirty="0">
              <a:latin typeface="BIZ UDPMincho Medium" panose="02020500000000000000" pitchFamily="18" charset="-128"/>
              <a:ea typeface="BIZ UDPMincho Medium" panose="02020500000000000000" pitchFamily="18" charset="-128"/>
            </a:endParaRPr>
          </a:p>
        </p:txBody>
      </p:sp>
      <p:sp>
        <p:nvSpPr>
          <p:cNvPr id="12" name="Shape 10"/>
          <p:cNvSpPr/>
          <p:nvPr/>
        </p:nvSpPr>
        <p:spPr>
          <a:xfrm>
            <a:off x="6080760" y="105156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13" name="Shape 11"/>
          <p:cNvSpPr/>
          <p:nvPr/>
        </p:nvSpPr>
        <p:spPr>
          <a:xfrm>
            <a:off x="6080760" y="1051560"/>
            <a:ext cx="2834640" cy="411480"/>
          </a:xfrm>
          <a:prstGeom prst="rect">
            <a:avLst/>
          </a:prstGeom>
          <a:solidFill>
            <a:srgbClr val="0096C7"/>
          </a:solidFill>
          <a:ln w="12700">
            <a:solidFill>
              <a:srgbClr val="0096C7"/>
            </a:solidFill>
            <a:prstDash val="solid"/>
          </a:ln>
        </p:spPr>
      </p:sp>
      <p:sp>
        <p:nvSpPr>
          <p:cNvPr id="14" name="Text 12"/>
          <p:cNvSpPr/>
          <p:nvPr/>
        </p:nvSpPr>
        <p:spPr>
          <a:xfrm>
            <a:off x="6126480" y="1051560"/>
            <a:ext cx="2743200" cy="411480"/>
          </a:xfrm>
          <a:prstGeom prst="rect">
            <a:avLst/>
          </a:prstGeom>
          <a:noFill/>
          <a:ln/>
        </p:spPr>
        <p:txBody>
          <a:bodyPr wrap="square" rtlCol="0" anchor="ctr"/>
          <a:lstStyle/>
          <a:p>
            <a:pPr marL="0" indent="0" algn="r" rtl="1">
              <a:buNone/>
            </a:pPr>
            <a:r>
              <a:rPr lang="en-US" sz="1300" b="1" dirty="0">
                <a:solidFill>
                  <a:srgbClr val="FFFFFF"/>
                </a:solidFill>
                <a:latin typeface="Calibri" pitchFamily="34" charset="0"/>
                <a:ea typeface="Calibri" pitchFamily="34" charset="-122"/>
                <a:cs typeface="Calibri" pitchFamily="34" charset="-120"/>
              </a:rPr>
              <a:t>💼  الاقتصاد</a:t>
            </a:r>
            <a:endParaRPr lang="en-US" sz="1300" dirty="0"/>
          </a:p>
        </p:txBody>
      </p:sp>
      <p:sp>
        <p:nvSpPr>
          <p:cNvPr id="15" name="Text 13"/>
          <p:cNvSpPr/>
          <p:nvPr/>
        </p:nvSpPr>
        <p:spPr>
          <a:xfrm>
            <a:off x="6322979" y="1645920"/>
            <a:ext cx="2014598" cy="1234440"/>
          </a:xfrm>
          <a:prstGeom prst="rect">
            <a:avLst/>
          </a:prstGeom>
          <a:noFill/>
          <a:ln/>
        </p:spPr>
        <p:txBody>
          <a:bodyPr wrap="square" rtlCol="0" anchor="t"/>
          <a:lstStyle/>
          <a:p>
            <a:pPr marL="0" indent="0" algn="ctr" rtl="1">
              <a:buNone/>
            </a:pPr>
            <a:r>
              <a:rPr lang="en-US" sz="1600" b="1" dirty="0">
                <a:solidFill>
                  <a:srgbClr val="334155"/>
                </a:solidFill>
                <a:latin typeface="BIZ UDPMincho Medium" panose="02020500000000000000" pitchFamily="18" charset="-128"/>
                <a:ea typeface="BIZ UDPMincho Medium" panose="02020500000000000000" pitchFamily="18" charset="-128"/>
                <a:cs typeface="Calibri" pitchFamily="34" charset="-120"/>
              </a:rPr>
              <a:t>تجارة إلكترونية عالمية، أتمتة صناعية، تحليل مالي، تسويق رقمي.</a:t>
            </a:r>
            <a:endParaRPr lang="en-US" sz="1600" b="1" dirty="0">
              <a:latin typeface="BIZ UDPMincho Medium" panose="02020500000000000000" pitchFamily="18" charset="-128"/>
              <a:ea typeface="BIZ UDPMincho Medium" panose="02020500000000000000" pitchFamily="18" charset="-128"/>
            </a:endParaRPr>
          </a:p>
        </p:txBody>
      </p:sp>
      <p:sp>
        <p:nvSpPr>
          <p:cNvPr id="16" name="Shape 14"/>
          <p:cNvSpPr/>
          <p:nvPr/>
        </p:nvSpPr>
        <p:spPr>
          <a:xfrm>
            <a:off x="228600" y="297180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17" name="Shape 15"/>
          <p:cNvSpPr/>
          <p:nvPr/>
        </p:nvSpPr>
        <p:spPr>
          <a:xfrm>
            <a:off x="228600" y="2971800"/>
            <a:ext cx="2834640" cy="411480"/>
          </a:xfrm>
          <a:prstGeom prst="rect">
            <a:avLst/>
          </a:prstGeom>
          <a:solidFill>
            <a:srgbClr val="00B4D8"/>
          </a:solidFill>
          <a:ln w="12700">
            <a:solidFill>
              <a:srgbClr val="00B4D8"/>
            </a:solidFill>
            <a:prstDash val="solid"/>
          </a:ln>
        </p:spPr>
      </p:sp>
      <p:sp>
        <p:nvSpPr>
          <p:cNvPr id="18" name="Text 16"/>
          <p:cNvSpPr/>
          <p:nvPr/>
        </p:nvSpPr>
        <p:spPr>
          <a:xfrm>
            <a:off x="274320" y="2971800"/>
            <a:ext cx="2743200" cy="411480"/>
          </a:xfrm>
          <a:prstGeom prst="rect">
            <a:avLst/>
          </a:prstGeom>
          <a:noFill/>
          <a:ln/>
        </p:spPr>
        <p:txBody>
          <a:bodyPr wrap="square" rtlCol="0" anchor="ctr"/>
          <a:lstStyle/>
          <a:p>
            <a:pPr marL="0" indent="0" algn="r" rtl="1">
              <a:buNone/>
            </a:pPr>
            <a:r>
              <a:rPr lang="en-US" sz="1300" b="1" dirty="0">
                <a:solidFill>
                  <a:srgbClr val="FFFFFF"/>
                </a:solidFill>
                <a:latin typeface="Calibri" pitchFamily="34" charset="0"/>
                <a:ea typeface="Calibri" pitchFamily="34" charset="-122"/>
                <a:cs typeface="Calibri" pitchFamily="34" charset="-120"/>
              </a:rPr>
              <a:t>🏛️  الإدارة</a:t>
            </a:r>
            <a:endParaRPr lang="en-US" sz="1300" dirty="0"/>
          </a:p>
        </p:txBody>
      </p:sp>
      <p:sp>
        <p:nvSpPr>
          <p:cNvPr id="19" name="Text 17"/>
          <p:cNvSpPr/>
          <p:nvPr/>
        </p:nvSpPr>
        <p:spPr>
          <a:xfrm>
            <a:off x="320040" y="3429000"/>
            <a:ext cx="2345339" cy="1234440"/>
          </a:xfrm>
          <a:prstGeom prst="rect">
            <a:avLst/>
          </a:prstGeom>
          <a:noFill/>
          <a:ln/>
        </p:spPr>
        <p:txBody>
          <a:bodyPr wrap="square" rtlCol="0" anchor="t"/>
          <a:lstStyle/>
          <a:p>
            <a:pPr marL="0" indent="0" algn="ctr" rtl="1">
              <a:buNone/>
            </a:pPr>
            <a:r>
              <a:rPr lang="en-US" sz="1600" b="1" dirty="0">
                <a:solidFill>
                  <a:srgbClr val="334155"/>
                </a:solidFill>
                <a:latin typeface="BIZ UDPMincho Medium" panose="02020500000000000000" pitchFamily="18" charset="-128"/>
                <a:ea typeface="BIZ UDPMincho Medium" panose="02020500000000000000" pitchFamily="18" charset="-128"/>
                <a:cs typeface="Calibri" pitchFamily="34" charset="-120"/>
              </a:rPr>
              <a:t>حكومة إلكترونية، قواعد بيانات السكان، قرارات مبنية على البيانات.</a:t>
            </a:r>
            <a:endParaRPr lang="en-US" sz="1600" b="1" dirty="0">
              <a:latin typeface="BIZ UDPMincho Medium" panose="02020500000000000000" pitchFamily="18" charset="-128"/>
              <a:ea typeface="BIZ UDPMincho Medium" panose="02020500000000000000" pitchFamily="18" charset="-128"/>
            </a:endParaRPr>
          </a:p>
        </p:txBody>
      </p:sp>
      <p:sp>
        <p:nvSpPr>
          <p:cNvPr id="20" name="Shape 18"/>
          <p:cNvSpPr/>
          <p:nvPr/>
        </p:nvSpPr>
        <p:spPr>
          <a:xfrm>
            <a:off x="3063240" y="2914893"/>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21" name="Shape 19"/>
          <p:cNvSpPr/>
          <p:nvPr/>
        </p:nvSpPr>
        <p:spPr>
          <a:xfrm>
            <a:off x="3154680" y="2971800"/>
            <a:ext cx="2834640" cy="411480"/>
          </a:xfrm>
          <a:prstGeom prst="rect">
            <a:avLst/>
          </a:prstGeom>
          <a:solidFill>
            <a:srgbClr val="0077B6"/>
          </a:solidFill>
          <a:ln w="12700">
            <a:solidFill>
              <a:srgbClr val="0077B6"/>
            </a:solidFill>
            <a:prstDash val="solid"/>
          </a:ln>
        </p:spPr>
      </p:sp>
      <p:sp>
        <p:nvSpPr>
          <p:cNvPr id="22" name="Text 20"/>
          <p:cNvSpPr/>
          <p:nvPr/>
        </p:nvSpPr>
        <p:spPr>
          <a:xfrm>
            <a:off x="3200400" y="2971800"/>
            <a:ext cx="2743200" cy="411480"/>
          </a:xfrm>
          <a:prstGeom prst="rect">
            <a:avLst/>
          </a:prstGeom>
          <a:noFill/>
          <a:ln/>
        </p:spPr>
        <p:txBody>
          <a:bodyPr wrap="square" rtlCol="0" anchor="ctr"/>
          <a:lstStyle/>
          <a:p>
            <a:pPr marL="0" indent="0" algn="r" rtl="1">
              <a:buNone/>
            </a:pPr>
            <a:r>
              <a:rPr lang="en-US" sz="1300" b="1" dirty="0">
                <a:solidFill>
                  <a:srgbClr val="FFFFFF"/>
                </a:solidFill>
                <a:latin typeface="Calibri" pitchFamily="34" charset="0"/>
                <a:ea typeface="Calibri" pitchFamily="34" charset="-122"/>
                <a:cs typeface="Calibri" pitchFamily="34" charset="-120"/>
              </a:rPr>
              <a:t>🔒  الأمن</a:t>
            </a:r>
            <a:endParaRPr lang="en-US" sz="1300" dirty="0"/>
          </a:p>
        </p:txBody>
      </p:sp>
      <p:sp>
        <p:nvSpPr>
          <p:cNvPr id="23" name="Text 21"/>
          <p:cNvSpPr/>
          <p:nvPr/>
        </p:nvSpPr>
        <p:spPr>
          <a:xfrm>
            <a:off x="3635226" y="3520440"/>
            <a:ext cx="2308374" cy="1234440"/>
          </a:xfrm>
          <a:prstGeom prst="rect">
            <a:avLst/>
          </a:prstGeom>
          <a:noFill/>
          <a:ln/>
        </p:spPr>
        <p:txBody>
          <a:bodyPr wrap="square" rtlCol="0" anchor="t"/>
          <a:lstStyle/>
          <a:p>
            <a:pPr marL="0" indent="0" algn="ctr" rtl="1">
              <a:buNone/>
            </a:pPr>
            <a:r>
              <a:rPr lang="en-US" sz="1600" b="1" dirty="0">
                <a:solidFill>
                  <a:srgbClr val="334155"/>
                </a:solidFill>
                <a:latin typeface="BIZ UDPMincho Medium" panose="02020500000000000000" pitchFamily="18" charset="-128"/>
                <a:ea typeface="BIZ UDPMincho Medium" panose="02020500000000000000" pitchFamily="18" charset="-128"/>
                <a:cs typeface="Calibri" pitchFamily="34" charset="-120"/>
              </a:rPr>
              <a:t>حماية البنية التحتية، تشفير الاتصالات، مكافحة الجرائم الإلكترونية.</a:t>
            </a:r>
            <a:endParaRPr lang="en-US" sz="1600" b="1" dirty="0">
              <a:latin typeface="BIZ UDPMincho Medium" panose="02020500000000000000" pitchFamily="18" charset="-128"/>
              <a:ea typeface="BIZ UDPMincho Medium" panose="02020500000000000000" pitchFamily="18" charset="-128"/>
            </a:endParaRPr>
          </a:p>
        </p:txBody>
      </p:sp>
      <p:sp>
        <p:nvSpPr>
          <p:cNvPr id="24" name="Shape 22"/>
          <p:cNvSpPr/>
          <p:nvPr/>
        </p:nvSpPr>
        <p:spPr>
          <a:xfrm>
            <a:off x="6080760" y="297180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25" name="Shape 23"/>
          <p:cNvSpPr/>
          <p:nvPr/>
        </p:nvSpPr>
        <p:spPr>
          <a:xfrm>
            <a:off x="6080760" y="2971800"/>
            <a:ext cx="2834640" cy="411480"/>
          </a:xfrm>
          <a:prstGeom prst="rect">
            <a:avLst/>
          </a:prstGeom>
          <a:solidFill>
            <a:srgbClr val="023E8A"/>
          </a:solidFill>
          <a:ln w="12700">
            <a:solidFill>
              <a:srgbClr val="023E8A"/>
            </a:solidFill>
            <a:prstDash val="solid"/>
          </a:ln>
        </p:spPr>
      </p:sp>
      <p:sp>
        <p:nvSpPr>
          <p:cNvPr id="26" name="Text 24"/>
          <p:cNvSpPr/>
          <p:nvPr/>
        </p:nvSpPr>
        <p:spPr>
          <a:xfrm>
            <a:off x="6126480" y="2971800"/>
            <a:ext cx="2743200" cy="411480"/>
          </a:xfrm>
          <a:prstGeom prst="rect">
            <a:avLst/>
          </a:prstGeom>
          <a:noFill/>
          <a:ln/>
        </p:spPr>
        <p:txBody>
          <a:bodyPr wrap="square" rtlCol="0" anchor="ctr"/>
          <a:lstStyle/>
          <a:p>
            <a:pPr marL="0" indent="0" algn="r" rtl="1">
              <a:buNone/>
            </a:pPr>
            <a:r>
              <a:rPr lang="en-US" sz="1300" b="1" dirty="0">
                <a:solidFill>
                  <a:srgbClr val="FFFFFF"/>
                </a:solidFill>
                <a:latin typeface="Calibri" pitchFamily="34" charset="0"/>
                <a:ea typeface="Calibri" pitchFamily="34" charset="-122"/>
                <a:cs typeface="Calibri" pitchFamily="34" charset="-120"/>
              </a:rPr>
              <a:t>🌍  البيئة والطاقة</a:t>
            </a:r>
            <a:endParaRPr lang="en-US" sz="1300" dirty="0"/>
          </a:p>
        </p:txBody>
      </p:sp>
      <p:sp>
        <p:nvSpPr>
          <p:cNvPr id="27" name="Text 25"/>
          <p:cNvSpPr/>
          <p:nvPr/>
        </p:nvSpPr>
        <p:spPr>
          <a:xfrm>
            <a:off x="6247589" y="3515576"/>
            <a:ext cx="2500981" cy="1234440"/>
          </a:xfrm>
          <a:prstGeom prst="rect">
            <a:avLst/>
          </a:prstGeom>
          <a:noFill/>
          <a:ln/>
        </p:spPr>
        <p:txBody>
          <a:bodyPr wrap="square" rtlCol="0" anchor="t"/>
          <a:lstStyle/>
          <a:p>
            <a:pPr marL="0" indent="0" algn="ctr" rtl="1">
              <a:buNone/>
            </a:pPr>
            <a:r>
              <a:rPr lang="en-US" sz="1600" b="1" dirty="0">
                <a:solidFill>
                  <a:srgbClr val="334155"/>
                </a:solidFill>
                <a:latin typeface="BIZ UDPMincho Medium" panose="02020500000000000000" pitchFamily="18" charset="-128"/>
                <a:ea typeface="BIZ UDPMincho Medium" panose="02020500000000000000" pitchFamily="18" charset="-128"/>
                <a:cs typeface="Calibri" pitchFamily="34" charset="-120"/>
              </a:rPr>
              <a:t>نمذجة المناخ، إدارة شبكات الطاقة الذكية، تقليل الهدر.</a:t>
            </a:r>
            <a:endParaRPr lang="en-US" sz="1600" b="1" dirty="0">
              <a:latin typeface="BIZ UDPMincho Medium" panose="02020500000000000000" pitchFamily="18" charset="-128"/>
              <a:ea typeface="BIZ UDPMincho Medium" panose="02020500000000000000" pitchFamily="18" charset="-128"/>
            </a:endParaRPr>
          </a:p>
        </p:txBody>
      </p:sp>
    </p:spTree>
  </p:cSld>
  <p:clrMapOvr>
    <a:masterClrMapping/>
  </p:clrMapOvr>
  <mc:AlternateContent xmlns:mc="http://schemas.openxmlformats.org/markup-compatibility/2006">
    <mc:Choice xmlns:p14="http://schemas.microsoft.com/office/powerpoint/2010/main" Requires="p14">
      <p:transition spd="slow" p14:dur="2000">
        <p:push dir="u"/>
      </p:transition>
    </mc:Choice>
    <mc:Fallback>
      <p:transition spd="slow">
        <p:push dir="u"/>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044"/>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B4D8"/>
          </a:solidFill>
          <a:ln w="12700">
            <a:solidFill>
              <a:srgbClr val="00B4D8"/>
            </a:solidFill>
            <a:prstDash val="solid"/>
          </a:ln>
        </p:spPr>
      </p:sp>
      <p:sp>
        <p:nvSpPr>
          <p:cNvPr id="3" name="Text 1"/>
          <p:cNvSpPr/>
          <p:nvPr/>
        </p:nvSpPr>
        <p:spPr>
          <a:xfrm>
            <a:off x="274320" y="0"/>
            <a:ext cx="8595360" cy="914400"/>
          </a:xfrm>
          <a:prstGeom prst="rect">
            <a:avLst/>
          </a:prstGeom>
          <a:noFill/>
          <a:ln/>
        </p:spPr>
        <p:txBody>
          <a:bodyPr wrap="square" rtlCol="0" anchor="ctr"/>
          <a:lstStyle/>
          <a:p>
            <a:pPr marL="0" indent="0" algn="ctr" rtl="1">
              <a:buNone/>
            </a:pPr>
            <a:r>
              <a:rPr lang="en-US" sz="2200" b="1" dirty="0">
                <a:solidFill>
                  <a:srgbClr val="0F2044"/>
                </a:solidFill>
                <a:latin typeface="Calibri" pitchFamily="34" charset="0"/>
                <a:ea typeface="Calibri" pitchFamily="34" charset="-122"/>
                <a:cs typeface="Calibri" pitchFamily="34" charset="-120"/>
              </a:rPr>
              <a:t>أبرز التقنيات الحديثة المرتبطة بالإعلام الآلي</a:t>
            </a:r>
            <a:endParaRPr lang="en-US" sz="2200" dirty="0"/>
          </a:p>
        </p:txBody>
      </p:sp>
      <p:sp>
        <p:nvSpPr>
          <p:cNvPr id="4" name="Text 2"/>
          <p:cNvSpPr/>
          <p:nvPr/>
        </p:nvSpPr>
        <p:spPr>
          <a:xfrm>
            <a:off x="274320" y="1097280"/>
            <a:ext cx="2926080" cy="365760"/>
          </a:xfrm>
          <a:prstGeom prst="rect">
            <a:avLst/>
          </a:prstGeom>
          <a:noFill/>
          <a:ln/>
        </p:spPr>
        <p:txBody>
          <a:bodyPr wrap="square" rtlCol="0" anchor="ctr"/>
          <a:lstStyle/>
          <a:p>
            <a:pPr marL="0" indent="0" algn="ctr" rtl="1">
              <a:buNone/>
            </a:pPr>
            <a:r>
              <a:rPr lang="en-US" sz="1600" b="1" dirty="0">
                <a:solidFill>
                  <a:srgbClr val="00B4D8"/>
                </a:solidFill>
                <a:latin typeface="Calibri" pitchFamily="34" charset="0"/>
                <a:ea typeface="Calibri" pitchFamily="34" charset="-122"/>
                <a:cs typeface="Calibri" pitchFamily="34" charset="-120"/>
              </a:rPr>
              <a:t>الذكاء الاصطناعي (AI)</a:t>
            </a:r>
            <a:endParaRPr lang="en-US" sz="1600" dirty="0"/>
          </a:p>
        </p:txBody>
      </p:sp>
      <p:sp>
        <p:nvSpPr>
          <p:cNvPr id="5" name="Text 3"/>
          <p:cNvSpPr/>
          <p:nvPr/>
        </p:nvSpPr>
        <p:spPr>
          <a:xfrm>
            <a:off x="3238372" y="1444752"/>
            <a:ext cx="5631307" cy="347472"/>
          </a:xfrm>
          <a:prstGeom prst="rect">
            <a:avLst/>
          </a:prstGeom>
          <a:noFill/>
          <a:ln/>
        </p:spPr>
        <p:txBody>
          <a:bodyPr wrap="square" rtlCol="0" anchor="ctr"/>
          <a:lstStyle/>
          <a:p>
            <a:pPr marL="0" indent="0" algn="ctr" rtl="1">
              <a:buNone/>
            </a:pPr>
            <a:r>
              <a:rPr lang="en-US" sz="1400" b="1" dirty="0">
                <a:solidFill>
                  <a:srgbClr val="CBD5E1"/>
                </a:solidFill>
                <a:latin typeface="Calibri" pitchFamily="34" charset="0"/>
                <a:ea typeface="Calibri" pitchFamily="34" charset="-122"/>
                <a:cs typeface="Calibri" pitchFamily="34" charset="-120"/>
              </a:rPr>
              <a:t>محاكاة التفكير البشري لحل مشكلات معقدة واتخاذ قرارات ذكية.</a:t>
            </a:r>
            <a:endParaRPr lang="en-US" sz="1400" b="1" dirty="0"/>
          </a:p>
        </p:txBody>
      </p:sp>
      <p:sp>
        <p:nvSpPr>
          <p:cNvPr id="6" name="Shape 4"/>
          <p:cNvSpPr/>
          <p:nvPr/>
        </p:nvSpPr>
        <p:spPr>
          <a:xfrm>
            <a:off x="3383280" y="1188720"/>
            <a:ext cx="5394960" cy="201168"/>
          </a:xfrm>
          <a:prstGeom prst="rect">
            <a:avLst/>
          </a:prstGeom>
          <a:solidFill>
            <a:srgbClr val="1E3A5F"/>
          </a:solidFill>
          <a:ln w="12700">
            <a:solidFill>
              <a:srgbClr val="1E3A5F"/>
            </a:solidFill>
            <a:prstDash val="solid"/>
          </a:ln>
        </p:spPr>
      </p:sp>
      <p:sp>
        <p:nvSpPr>
          <p:cNvPr id="7" name="Shape 5"/>
          <p:cNvSpPr/>
          <p:nvPr/>
        </p:nvSpPr>
        <p:spPr>
          <a:xfrm>
            <a:off x="3653028" y="1188720"/>
            <a:ext cx="5125212" cy="201168"/>
          </a:xfrm>
          <a:prstGeom prst="rect">
            <a:avLst/>
          </a:prstGeom>
          <a:solidFill>
            <a:srgbClr val="00B4D8"/>
          </a:solidFill>
          <a:ln w="12700">
            <a:solidFill>
              <a:srgbClr val="00B4D8"/>
            </a:solidFill>
            <a:prstDash val="solid"/>
          </a:ln>
        </p:spPr>
      </p:sp>
      <p:sp>
        <p:nvSpPr>
          <p:cNvPr id="8" name="Text 6"/>
          <p:cNvSpPr/>
          <p:nvPr/>
        </p:nvSpPr>
        <p:spPr>
          <a:xfrm>
            <a:off x="8823960" y="1161288"/>
            <a:ext cx="548640" cy="274320"/>
          </a:xfrm>
          <a:prstGeom prst="rect">
            <a:avLst/>
          </a:prstGeom>
          <a:noFill/>
          <a:ln/>
        </p:spPr>
        <p:txBody>
          <a:bodyPr wrap="square" rtlCol="0" anchor="ctr"/>
          <a:lstStyle/>
          <a:p>
            <a:pPr marL="0" indent="0" algn="l">
              <a:buNone/>
            </a:pPr>
            <a:r>
              <a:rPr lang="en-US" sz="1000" b="1" dirty="0">
                <a:solidFill>
                  <a:srgbClr val="00B4D8"/>
                </a:solidFill>
                <a:latin typeface="Calibri" pitchFamily="34" charset="0"/>
                <a:ea typeface="Calibri" pitchFamily="34" charset="-122"/>
                <a:cs typeface="Calibri" pitchFamily="34" charset="-120"/>
              </a:rPr>
              <a:t>95%</a:t>
            </a:r>
            <a:endParaRPr lang="en-US" sz="1000" dirty="0"/>
          </a:p>
        </p:txBody>
      </p:sp>
      <p:sp>
        <p:nvSpPr>
          <p:cNvPr id="9" name="Text 7"/>
          <p:cNvSpPr/>
          <p:nvPr/>
        </p:nvSpPr>
        <p:spPr>
          <a:xfrm>
            <a:off x="274320" y="1874520"/>
            <a:ext cx="2926080" cy="365760"/>
          </a:xfrm>
          <a:prstGeom prst="rect">
            <a:avLst/>
          </a:prstGeom>
          <a:noFill/>
          <a:ln/>
        </p:spPr>
        <p:txBody>
          <a:bodyPr wrap="square" rtlCol="0" anchor="ctr"/>
          <a:lstStyle/>
          <a:p>
            <a:pPr marL="0" indent="0" algn="ctr" rtl="1">
              <a:buNone/>
            </a:pPr>
            <a:r>
              <a:rPr lang="en-US" sz="1600" b="1" dirty="0">
                <a:solidFill>
                  <a:srgbClr val="00B4D8"/>
                </a:solidFill>
                <a:latin typeface="Calibri" pitchFamily="34" charset="0"/>
                <a:ea typeface="Calibri" pitchFamily="34" charset="-122"/>
                <a:cs typeface="Calibri" pitchFamily="34" charset="-120"/>
              </a:rPr>
              <a:t>البيانات الضخمة (Big Data)</a:t>
            </a:r>
            <a:endParaRPr lang="en-US" sz="1600" dirty="0"/>
          </a:p>
        </p:txBody>
      </p:sp>
      <p:sp>
        <p:nvSpPr>
          <p:cNvPr id="10" name="Text 8"/>
          <p:cNvSpPr/>
          <p:nvPr/>
        </p:nvSpPr>
        <p:spPr>
          <a:xfrm>
            <a:off x="3974729" y="2221992"/>
            <a:ext cx="4894951" cy="347472"/>
          </a:xfrm>
          <a:prstGeom prst="rect">
            <a:avLst/>
          </a:prstGeom>
          <a:noFill/>
          <a:ln/>
        </p:spPr>
        <p:txBody>
          <a:bodyPr wrap="square" rtlCol="0" anchor="ctr"/>
          <a:lstStyle/>
          <a:p>
            <a:pPr marL="0" indent="0" algn="ctr" rtl="1">
              <a:buNone/>
            </a:pPr>
            <a:r>
              <a:rPr lang="en-US" sz="1400" b="1" dirty="0">
                <a:solidFill>
                  <a:srgbClr val="CBD5E1"/>
                </a:solidFill>
                <a:latin typeface="Calibri" pitchFamily="34" charset="0"/>
                <a:ea typeface="Calibri" pitchFamily="34" charset="-122"/>
                <a:cs typeface="Calibri" pitchFamily="34" charset="-120"/>
              </a:rPr>
              <a:t>تحليل كميات هائلة من البيانات واستخراج أنماط مفيدة منها.</a:t>
            </a:r>
            <a:endParaRPr lang="en-US" sz="1400" b="1" dirty="0"/>
          </a:p>
        </p:txBody>
      </p:sp>
      <p:sp>
        <p:nvSpPr>
          <p:cNvPr id="11" name="Shape 9"/>
          <p:cNvSpPr/>
          <p:nvPr/>
        </p:nvSpPr>
        <p:spPr>
          <a:xfrm>
            <a:off x="3383280" y="1965960"/>
            <a:ext cx="5394960" cy="201168"/>
          </a:xfrm>
          <a:prstGeom prst="rect">
            <a:avLst/>
          </a:prstGeom>
          <a:solidFill>
            <a:srgbClr val="1E3A5F"/>
          </a:solidFill>
          <a:ln w="12700">
            <a:solidFill>
              <a:srgbClr val="1E3A5F"/>
            </a:solidFill>
            <a:prstDash val="solid"/>
          </a:ln>
        </p:spPr>
      </p:sp>
      <p:sp>
        <p:nvSpPr>
          <p:cNvPr id="12" name="Shape 10"/>
          <p:cNvSpPr/>
          <p:nvPr/>
        </p:nvSpPr>
        <p:spPr>
          <a:xfrm>
            <a:off x="4030675" y="1965960"/>
            <a:ext cx="4747565" cy="201168"/>
          </a:xfrm>
          <a:prstGeom prst="rect">
            <a:avLst/>
          </a:prstGeom>
          <a:solidFill>
            <a:srgbClr val="00B4D8"/>
          </a:solidFill>
          <a:ln w="12700">
            <a:solidFill>
              <a:srgbClr val="00B4D8"/>
            </a:solidFill>
            <a:prstDash val="solid"/>
          </a:ln>
        </p:spPr>
      </p:sp>
      <p:sp>
        <p:nvSpPr>
          <p:cNvPr id="13" name="Text 11"/>
          <p:cNvSpPr/>
          <p:nvPr/>
        </p:nvSpPr>
        <p:spPr>
          <a:xfrm>
            <a:off x="8823960" y="1938528"/>
            <a:ext cx="548640" cy="274320"/>
          </a:xfrm>
          <a:prstGeom prst="rect">
            <a:avLst/>
          </a:prstGeom>
          <a:noFill/>
          <a:ln/>
        </p:spPr>
        <p:txBody>
          <a:bodyPr wrap="square" rtlCol="0" anchor="ctr"/>
          <a:lstStyle/>
          <a:p>
            <a:pPr marL="0" indent="0" algn="l">
              <a:buNone/>
            </a:pPr>
            <a:r>
              <a:rPr lang="en-US" sz="1000" b="1" dirty="0">
                <a:solidFill>
                  <a:srgbClr val="00B4D8"/>
                </a:solidFill>
                <a:latin typeface="Calibri" pitchFamily="34" charset="0"/>
                <a:ea typeface="Calibri" pitchFamily="34" charset="-122"/>
                <a:cs typeface="Calibri" pitchFamily="34" charset="-120"/>
              </a:rPr>
              <a:t>88%</a:t>
            </a:r>
            <a:endParaRPr lang="en-US" sz="1000" dirty="0"/>
          </a:p>
        </p:txBody>
      </p:sp>
      <p:sp>
        <p:nvSpPr>
          <p:cNvPr id="14" name="Text 12"/>
          <p:cNvSpPr/>
          <p:nvPr/>
        </p:nvSpPr>
        <p:spPr>
          <a:xfrm>
            <a:off x="274320" y="2651760"/>
            <a:ext cx="2926080" cy="365760"/>
          </a:xfrm>
          <a:prstGeom prst="rect">
            <a:avLst/>
          </a:prstGeom>
          <a:noFill/>
          <a:ln/>
        </p:spPr>
        <p:txBody>
          <a:bodyPr wrap="square" rtlCol="0" anchor="ctr"/>
          <a:lstStyle/>
          <a:p>
            <a:pPr marL="0" indent="0" algn="ctr" rtl="1">
              <a:buNone/>
            </a:pPr>
            <a:r>
              <a:rPr lang="en-US" sz="1600" b="1" dirty="0">
                <a:solidFill>
                  <a:srgbClr val="00B4D8"/>
                </a:solidFill>
                <a:latin typeface="Calibri" pitchFamily="34" charset="0"/>
                <a:ea typeface="Calibri" pitchFamily="34" charset="-122"/>
                <a:cs typeface="Calibri" pitchFamily="34" charset="-120"/>
              </a:rPr>
              <a:t>الحوسبة السحابية (Cloud)</a:t>
            </a:r>
            <a:endParaRPr lang="en-US" sz="1600" dirty="0"/>
          </a:p>
        </p:txBody>
      </p:sp>
      <p:sp>
        <p:nvSpPr>
          <p:cNvPr id="15" name="Text 13"/>
          <p:cNvSpPr/>
          <p:nvPr/>
        </p:nvSpPr>
        <p:spPr>
          <a:xfrm>
            <a:off x="3238372" y="2999232"/>
            <a:ext cx="5631308" cy="347472"/>
          </a:xfrm>
          <a:prstGeom prst="rect">
            <a:avLst/>
          </a:prstGeom>
          <a:noFill/>
          <a:ln/>
        </p:spPr>
        <p:txBody>
          <a:bodyPr wrap="square" rtlCol="0" anchor="ctr"/>
          <a:lstStyle/>
          <a:p>
            <a:pPr marL="0" indent="0" algn="ctr" rtl="1">
              <a:buNone/>
            </a:pPr>
            <a:r>
              <a:rPr lang="en-US" sz="1400" b="1" dirty="0">
                <a:solidFill>
                  <a:srgbClr val="CBD5E1"/>
                </a:solidFill>
                <a:latin typeface="Calibri" pitchFamily="34" charset="0"/>
                <a:ea typeface="Calibri" pitchFamily="34" charset="-122"/>
                <a:cs typeface="Calibri" pitchFamily="34" charset="-120"/>
              </a:rPr>
              <a:t>تخزين البيانات والبرامج على خوادم بعيدة والوصول إليها عبر الإنترنت.</a:t>
            </a:r>
            <a:endParaRPr lang="en-US" sz="1400" b="1" dirty="0"/>
          </a:p>
        </p:txBody>
      </p:sp>
      <p:sp>
        <p:nvSpPr>
          <p:cNvPr id="16" name="Shape 14"/>
          <p:cNvSpPr/>
          <p:nvPr/>
        </p:nvSpPr>
        <p:spPr>
          <a:xfrm>
            <a:off x="3383280" y="2743200"/>
            <a:ext cx="5394960" cy="201168"/>
          </a:xfrm>
          <a:prstGeom prst="rect">
            <a:avLst/>
          </a:prstGeom>
          <a:solidFill>
            <a:srgbClr val="1E3A5F"/>
          </a:solidFill>
          <a:ln w="12700">
            <a:solidFill>
              <a:srgbClr val="1E3A5F"/>
            </a:solidFill>
            <a:prstDash val="solid"/>
          </a:ln>
        </p:spPr>
      </p:sp>
      <p:sp>
        <p:nvSpPr>
          <p:cNvPr id="17" name="Shape 15"/>
          <p:cNvSpPr/>
          <p:nvPr/>
        </p:nvSpPr>
        <p:spPr>
          <a:xfrm>
            <a:off x="3814877" y="2743200"/>
            <a:ext cx="4963363" cy="201168"/>
          </a:xfrm>
          <a:prstGeom prst="rect">
            <a:avLst/>
          </a:prstGeom>
          <a:solidFill>
            <a:srgbClr val="00B4D8"/>
          </a:solidFill>
          <a:ln w="12700">
            <a:solidFill>
              <a:srgbClr val="00B4D8"/>
            </a:solidFill>
            <a:prstDash val="solid"/>
          </a:ln>
        </p:spPr>
      </p:sp>
      <p:sp>
        <p:nvSpPr>
          <p:cNvPr id="18" name="Text 16"/>
          <p:cNvSpPr/>
          <p:nvPr/>
        </p:nvSpPr>
        <p:spPr>
          <a:xfrm>
            <a:off x="8823960" y="2715768"/>
            <a:ext cx="548640" cy="274320"/>
          </a:xfrm>
          <a:prstGeom prst="rect">
            <a:avLst/>
          </a:prstGeom>
          <a:noFill/>
          <a:ln/>
        </p:spPr>
        <p:txBody>
          <a:bodyPr wrap="square" rtlCol="0" anchor="ctr"/>
          <a:lstStyle/>
          <a:p>
            <a:pPr marL="0" indent="0" algn="l">
              <a:buNone/>
            </a:pPr>
            <a:r>
              <a:rPr lang="en-US" sz="1000" b="1" dirty="0">
                <a:solidFill>
                  <a:srgbClr val="00B4D8"/>
                </a:solidFill>
                <a:latin typeface="Calibri" pitchFamily="34" charset="0"/>
                <a:ea typeface="Calibri" pitchFamily="34" charset="-122"/>
                <a:cs typeface="Calibri" pitchFamily="34" charset="-120"/>
              </a:rPr>
              <a:t>92%</a:t>
            </a:r>
            <a:endParaRPr lang="en-US" sz="1000" dirty="0"/>
          </a:p>
        </p:txBody>
      </p:sp>
      <p:sp>
        <p:nvSpPr>
          <p:cNvPr id="19" name="Text 17"/>
          <p:cNvSpPr/>
          <p:nvPr/>
        </p:nvSpPr>
        <p:spPr>
          <a:xfrm>
            <a:off x="274320" y="3429000"/>
            <a:ext cx="2926080" cy="365760"/>
          </a:xfrm>
          <a:prstGeom prst="rect">
            <a:avLst/>
          </a:prstGeom>
          <a:noFill/>
          <a:ln/>
        </p:spPr>
        <p:txBody>
          <a:bodyPr wrap="square" rtlCol="0" anchor="ctr"/>
          <a:lstStyle/>
          <a:p>
            <a:pPr marL="0" indent="0" algn="ctr" rtl="1">
              <a:buNone/>
            </a:pPr>
            <a:r>
              <a:rPr lang="en-US" sz="1600" b="1" dirty="0">
                <a:solidFill>
                  <a:srgbClr val="00B4D8"/>
                </a:solidFill>
                <a:latin typeface="Calibri" pitchFamily="34" charset="0"/>
                <a:ea typeface="Calibri" pitchFamily="34" charset="-122"/>
                <a:cs typeface="Calibri" pitchFamily="34" charset="-120"/>
              </a:rPr>
              <a:t>إنترنت الأشياء (IoT)</a:t>
            </a:r>
            <a:endParaRPr lang="en-US" sz="1600" dirty="0"/>
          </a:p>
        </p:txBody>
      </p:sp>
      <p:sp>
        <p:nvSpPr>
          <p:cNvPr id="20" name="Text 18"/>
          <p:cNvSpPr/>
          <p:nvPr/>
        </p:nvSpPr>
        <p:spPr>
          <a:xfrm>
            <a:off x="4336870" y="3776472"/>
            <a:ext cx="4532810" cy="347472"/>
          </a:xfrm>
          <a:prstGeom prst="rect">
            <a:avLst/>
          </a:prstGeom>
          <a:noFill/>
          <a:ln/>
        </p:spPr>
        <p:txBody>
          <a:bodyPr wrap="square" rtlCol="0" anchor="ctr"/>
          <a:lstStyle/>
          <a:p>
            <a:pPr marL="0" indent="0" algn="ctr" rtl="1">
              <a:buNone/>
            </a:pPr>
            <a:r>
              <a:rPr lang="en-US" sz="1400" b="1" dirty="0">
                <a:solidFill>
                  <a:srgbClr val="CBD5E1"/>
                </a:solidFill>
                <a:latin typeface="Calibri" pitchFamily="34" charset="0"/>
                <a:ea typeface="Calibri" pitchFamily="34" charset="-122"/>
                <a:cs typeface="Calibri" pitchFamily="34" charset="-120"/>
              </a:rPr>
              <a:t>ربط الأجهزة اليومية بالإنترنت لتبادل البيانات وأتمتة الحياة.</a:t>
            </a:r>
            <a:endParaRPr lang="en-US" sz="1400" b="1" dirty="0"/>
          </a:p>
        </p:txBody>
      </p:sp>
      <p:sp>
        <p:nvSpPr>
          <p:cNvPr id="21" name="Shape 19"/>
          <p:cNvSpPr/>
          <p:nvPr/>
        </p:nvSpPr>
        <p:spPr>
          <a:xfrm>
            <a:off x="3383280" y="3520440"/>
            <a:ext cx="5394960" cy="201168"/>
          </a:xfrm>
          <a:prstGeom prst="rect">
            <a:avLst/>
          </a:prstGeom>
          <a:solidFill>
            <a:srgbClr val="1E3A5F"/>
          </a:solidFill>
          <a:ln w="12700">
            <a:solidFill>
              <a:srgbClr val="1E3A5F"/>
            </a:solidFill>
            <a:prstDash val="solid"/>
          </a:ln>
        </p:spPr>
      </p:sp>
      <p:sp>
        <p:nvSpPr>
          <p:cNvPr id="22" name="Shape 20"/>
          <p:cNvSpPr/>
          <p:nvPr/>
        </p:nvSpPr>
        <p:spPr>
          <a:xfrm>
            <a:off x="4462272" y="3520440"/>
            <a:ext cx="4315968" cy="201168"/>
          </a:xfrm>
          <a:prstGeom prst="rect">
            <a:avLst/>
          </a:prstGeom>
          <a:solidFill>
            <a:srgbClr val="00B4D8"/>
          </a:solidFill>
          <a:ln w="12700">
            <a:solidFill>
              <a:srgbClr val="00B4D8"/>
            </a:solidFill>
            <a:prstDash val="solid"/>
          </a:ln>
        </p:spPr>
      </p:sp>
      <p:sp>
        <p:nvSpPr>
          <p:cNvPr id="23" name="Text 21"/>
          <p:cNvSpPr/>
          <p:nvPr/>
        </p:nvSpPr>
        <p:spPr>
          <a:xfrm>
            <a:off x="8823960" y="3493008"/>
            <a:ext cx="548640" cy="274320"/>
          </a:xfrm>
          <a:prstGeom prst="rect">
            <a:avLst/>
          </a:prstGeom>
          <a:noFill/>
          <a:ln/>
        </p:spPr>
        <p:txBody>
          <a:bodyPr wrap="square" rtlCol="0" anchor="ctr"/>
          <a:lstStyle/>
          <a:p>
            <a:pPr marL="0" indent="0" algn="l">
              <a:buNone/>
            </a:pPr>
            <a:r>
              <a:rPr lang="en-US" sz="1000" b="1" dirty="0">
                <a:solidFill>
                  <a:srgbClr val="00B4D8"/>
                </a:solidFill>
                <a:latin typeface="Calibri" pitchFamily="34" charset="0"/>
                <a:ea typeface="Calibri" pitchFamily="34" charset="-122"/>
                <a:cs typeface="Calibri" pitchFamily="34" charset="-120"/>
              </a:rPr>
              <a:t>80%</a:t>
            </a:r>
            <a:endParaRPr lang="en-US" sz="1000" dirty="0"/>
          </a:p>
        </p:txBody>
      </p:sp>
      <p:sp>
        <p:nvSpPr>
          <p:cNvPr id="24" name="Text 22"/>
          <p:cNvSpPr/>
          <p:nvPr/>
        </p:nvSpPr>
        <p:spPr>
          <a:xfrm>
            <a:off x="274320" y="4206240"/>
            <a:ext cx="2926080" cy="365760"/>
          </a:xfrm>
          <a:prstGeom prst="rect">
            <a:avLst/>
          </a:prstGeom>
          <a:noFill/>
          <a:ln/>
        </p:spPr>
        <p:txBody>
          <a:bodyPr wrap="square" rtlCol="0" anchor="ctr"/>
          <a:lstStyle/>
          <a:p>
            <a:pPr marL="0" indent="0" algn="ctr" rtl="1">
              <a:buNone/>
            </a:pPr>
            <a:r>
              <a:rPr lang="en-US" sz="1600" b="1" dirty="0">
                <a:solidFill>
                  <a:srgbClr val="00B4D8"/>
                </a:solidFill>
                <a:latin typeface="Calibri" pitchFamily="34" charset="0"/>
                <a:ea typeface="Calibri" pitchFamily="34" charset="-122"/>
                <a:cs typeface="Calibri" pitchFamily="34" charset="-120"/>
              </a:rPr>
              <a:t>سلسلة الكتل (Blockchain)</a:t>
            </a:r>
            <a:endParaRPr lang="en-US" sz="1600" dirty="0"/>
          </a:p>
        </p:txBody>
      </p:sp>
      <p:sp>
        <p:nvSpPr>
          <p:cNvPr id="25" name="Text 23"/>
          <p:cNvSpPr/>
          <p:nvPr/>
        </p:nvSpPr>
        <p:spPr>
          <a:xfrm>
            <a:off x="4336869" y="4553712"/>
            <a:ext cx="4532811" cy="347472"/>
          </a:xfrm>
          <a:prstGeom prst="rect">
            <a:avLst/>
          </a:prstGeom>
          <a:noFill/>
          <a:ln/>
        </p:spPr>
        <p:txBody>
          <a:bodyPr wrap="square" rtlCol="0" anchor="ctr"/>
          <a:lstStyle/>
          <a:p>
            <a:pPr marL="0" indent="0" algn="ctr" rtl="1">
              <a:buNone/>
            </a:pPr>
            <a:r>
              <a:rPr lang="en-US" sz="1400" b="1" dirty="0">
                <a:solidFill>
                  <a:srgbClr val="CBD5E1"/>
                </a:solidFill>
                <a:latin typeface="Calibri" pitchFamily="34" charset="0"/>
                <a:ea typeface="Calibri" pitchFamily="34" charset="-122"/>
                <a:cs typeface="Calibri" pitchFamily="34" charset="-120"/>
              </a:rPr>
              <a:t>تسجيل المعاملات بشكل موثوق ولامركزي يضمن الأمان والشفافية.</a:t>
            </a:r>
            <a:endParaRPr lang="en-US" sz="1400" b="1" dirty="0"/>
          </a:p>
        </p:txBody>
      </p:sp>
      <p:sp>
        <p:nvSpPr>
          <p:cNvPr id="26" name="Shape 24"/>
          <p:cNvSpPr/>
          <p:nvPr/>
        </p:nvSpPr>
        <p:spPr>
          <a:xfrm>
            <a:off x="3383280" y="4297680"/>
            <a:ext cx="5394960" cy="201168"/>
          </a:xfrm>
          <a:prstGeom prst="rect">
            <a:avLst/>
          </a:prstGeom>
          <a:solidFill>
            <a:srgbClr val="1E3A5F"/>
          </a:solidFill>
          <a:ln w="12700">
            <a:solidFill>
              <a:srgbClr val="1E3A5F"/>
            </a:solidFill>
            <a:prstDash val="solid"/>
          </a:ln>
        </p:spPr>
      </p:sp>
      <p:sp>
        <p:nvSpPr>
          <p:cNvPr id="27" name="Shape 25"/>
          <p:cNvSpPr/>
          <p:nvPr/>
        </p:nvSpPr>
        <p:spPr>
          <a:xfrm>
            <a:off x="4893869" y="4297680"/>
            <a:ext cx="3884371" cy="201168"/>
          </a:xfrm>
          <a:prstGeom prst="rect">
            <a:avLst/>
          </a:prstGeom>
          <a:solidFill>
            <a:srgbClr val="00B4D8"/>
          </a:solidFill>
          <a:ln w="12700">
            <a:solidFill>
              <a:srgbClr val="00B4D8"/>
            </a:solidFill>
            <a:prstDash val="solid"/>
          </a:ln>
        </p:spPr>
      </p:sp>
      <p:sp>
        <p:nvSpPr>
          <p:cNvPr id="28" name="Text 26"/>
          <p:cNvSpPr/>
          <p:nvPr/>
        </p:nvSpPr>
        <p:spPr>
          <a:xfrm>
            <a:off x="8823960" y="4270248"/>
            <a:ext cx="548640" cy="274320"/>
          </a:xfrm>
          <a:prstGeom prst="rect">
            <a:avLst/>
          </a:prstGeom>
          <a:noFill/>
          <a:ln/>
        </p:spPr>
        <p:txBody>
          <a:bodyPr wrap="square" rtlCol="0" anchor="ctr"/>
          <a:lstStyle/>
          <a:p>
            <a:pPr marL="0" indent="0" algn="l">
              <a:buNone/>
            </a:pPr>
            <a:r>
              <a:rPr lang="en-US" sz="1000" b="1" dirty="0">
                <a:solidFill>
                  <a:srgbClr val="00B4D8"/>
                </a:solidFill>
                <a:latin typeface="Calibri" pitchFamily="34" charset="0"/>
                <a:ea typeface="Calibri" pitchFamily="34" charset="-122"/>
                <a:cs typeface="Calibri" pitchFamily="34" charset="-120"/>
              </a:rPr>
              <a:t>72%</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slow" p14:dur="2000">
        <p:push dir="u"/>
      </p:transition>
    </mc:Choice>
    <mc:Fallback>
      <p:transition spd="slow">
        <p:push dir="u"/>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B91C1C"/>
          </a:solidFill>
          <a:ln w="12700">
            <a:solidFill>
              <a:srgbClr val="B91C1C"/>
            </a:solidFill>
            <a:prstDash val="solid"/>
          </a:ln>
        </p:spPr>
      </p:sp>
      <p:sp>
        <p:nvSpPr>
          <p:cNvPr id="3" name="Text 1"/>
          <p:cNvSpPr/>
          <p:nvPr/>
        </p:nvSpPr>
        <p:spPr>
          <a:xfrm>
            <a:off x="274320" y="0"/>
            <a:ext cx="8595360" cy="914400"/>
          </a:xfrm>
          <a:prstGeom prst="rect">
            <a:avLst/>
          </a:prstGeom>
          <a:noFill/>
          <a:ln/>
        </p:spPr>
        <p:txBody>
          <a:bodyPr wrap="square" rtlCol="0" anchor="ctr"/>
          <a:lstStyle/>
          <a:p>
            <a:pPr marL="0" indent="0" algn="ctr" rtl="1">
              <a:buNone/>
            </a:pPr>
            <a:r>
              <a:rPr lang="en-US" sz="2600" b="1" dirty="0">
                <a:solidFill>
                  <a:srgbClr val="FFFFFF"/>
                </a:solidFill>
                <a:latin typeface="Calibri" pitchFamily="34" charset="0"/>
                <a:ea typeface="Calibri" pitchFamily="34" charset="-122"/>
                <a:cs typeface="Calibri" pitchFamily="34" charset="-120"/>
              </a:rPr>
              <a:t>تحديات وسلبيات الإعلام الآلي</a:t>
            </a:r>
            <a:endParaRPr lang="en-US" sz="2600" dirty="0"/>
          </a:p>
        </p:txBody>
      </p:sp>
      <p:sp>
        <p:nvSpPr>
          <p:cNvPr id="4" name="Shape 2"/>
          <p:cNvSpPr/>
          <p:nvPr/>
        </p:nvSpPr>
        <p:spPr>
          <a:xfrm>
            <a:off x="228600" y="105156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5" name="Shape 3"/>
          <p:cNvSpPr/>
          <p:nvPr/>
        </p:nvSpPr>
        <p:spPr>
          <a:xfrm>
            <a:off x="228600" y="1051560"/>
            <a:ext cx="91440" cy="1783080"/>
          </a:xfrm>
          <a:prstGeom prst="rect">
            <a:avLst/>
          </a:prstGeom>
          <a:solidFill>
            <a:srgbClr val="B91C1C"/>
          </a:solidFill>
          <a:ln w="12700">
            <a:solidFill>
              <a:srgbClr val="B91C1C"/>
            </a:solidFill>
            <a:prstDash val="solid"/>
          </a:ln>
        </p:spPr>
      </p:sp>
      <p:sp>
        <p:nvSpPr>
          <p:cNvPr id="6" name="Text 4"/>
          <p:cNvSpPr/>
          <p:nvPr/>
        </p:nvSpPr>
        <p:spPr>
          <a:xfrm>
            <a:off x="411480" y="1143000"/>
            <a:ext cx="2606040" cy="411480"/>
          </a:xfrm>
          <a:prstGeom prst="rect">
            <a:avLst/>
          </a:prstGeom>
          <a:noFill/>
          <a:ln/>
        </p:spPr>
        <p:txBody>
          <a:bodyPr wrap="square" rtlCol="0" anchor="ctr"/>
          <a:lstStyle/>
          <a:p>
            <a:pPr marL="0" indent="0" algn="ctr" rtl="1">
              <a:buNone/>
            </a:pPr>
            <a:r>
              <a:rPr lang="en-US" sz="1600" b="1" dirty="0">
                <a:solidFill>
                  <a:srgbClr val="B91C1C"/>
                </a:solidFill>
                <a:latin typeface="Calibri" pitchFamily="34" charset="0"/>
                <a:ea typeface="Calibri" pitchFamily="34" charset="-122"/>
                <a:cs typeface="Calibri" pitchFamily="34" charset="-120"/>
              </a:rPr>
              <a:t>🌐  الهوة الرقمية</a:t>
            </a:r>
            <a:endParaRPr lang="en-US" sz="1600" dirty="0"/>
          </a:p>
        </p:txBody>
      </p:sp>
      <p:sp>
        <p:nvSpPr>
          <p:cNvPr id="7" name="Text 5"/>
          <p:cNvSpPr/>
          <p:nvPr/>
        </p:nvSpPr>
        <p:spPr>
          <a:xfrm>
            <a:off x="411480" y="1554480"/>
            <a:ext cx="2606040" cy="1188720"/>
          </a:xfrm>
          <a:prstGeom prst="rect">
            <a:avLst/>
          </a:prstGeom>
          <a:noFill/>
          <a:ln/>
        </p:spPr>
        <p:txBody>
          <a:bodyPr wrap="square" rtlCol="0" anchor="t"/>
          <a:lstStyle/>
          <a:p>
            <a:pPr marL="0" indent="0" algn="r" rtl="1">
              <a:buNone/>
            </a:pPr>
            <a:r>
              <a:rPr lang="en-US" sz="1600" b="1" dirty="0">
                <a:solidFill>
                  <a:srgbClr val="334155"/>
                </a:solidFill>
                <a:latin typeface="Calibri" pitchFamily="34" charset="0"/>
                <a:ea typeface="Calibri" pitchFamily="34" charset="-122"/>
                <a:cs typeface="Calibri" pitchFamily="34" charset="-120"/>
              </a:rPr>
              <a:t>عدم المساواة في الوصول للتكنولوجيا بين الدول الغنية والفقيرة، مما يزيد الفجوة التنموية.</a:t>
            </a:r>
            <a:endParaRPr lang="en-US" sz="1600" b="1" dirty="0"/>
          </a:p>
        </p:txBody>
      </p:sp>
      <p:sp>
        <p:nvSpPr>
          <p:cNvPr id="8" name="Shape 6"/>
          <p:cNvSpPr/>
          <p:nvPr/>
        </p:nvSpPr>
        <p:spPr>
          <a:xfrm>
            <a:off x="3154680" y="105156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9" name="Shape 7"/>
          <p:cNvSpPr/>
          <p:nvPr/>
        </p:nvSpPr>
        <p:spPr>
          <a:xfrm>
            <a:off x="3154680" y="1051560"/>
            <a:ext cx="91440" cy="1783080"/>
          </a:xfrm>
          <a:prstGeom prst="rect">
            <a:avLst/>
          </a:prstGeom>
          <a:solidFill>
            <a:srgbClr val="B91C1C"/>
          </a:solidFill>
          <a:ln w="12700">
            <a:solidFill>
              <a:srgbClr val="B91C1C"/>
            </a:solidFill>
            <a:prstDash val="solid"/>
          </a:ln>
        </p:spPr>
      </p:sp>
      <p:sp>
        <p:nvSpPr>
          <p:cNvPr id="10" name="Text 8"/>
          <p:cNvSpPr/>
          <p:nvPr/>
        </p:nvSpPr>
        <p:spPr>
          <a:xfrm>
            <a:off x="3337560" y="1143000"/>
            <a:ext cx="2606040" cy="411480"/>
          </a:xfrm>
          <a:prstGeom prst="rect">
            <a:avLst/>
          </a:prstGeom>
          <a:noFill/>
          <a:ln/>
        </p:spPr>
        <p:txBody>
          <a:bodyPr wrap="square" rtlCol="0" anchor="ctr"/>
          <a:lstStyle/>
          <a:p>
            <a:pPr marL="0" indent="0" algn="ctr" rtl="1">
              <a:buNone/>
            </a:pPr>
            <a:r>
              <a:rPr lang="en-US" sz="1600" b="1" dirty="0">
                <a:solidFill>
                  <a:srgbClr val="B91C1C"/>
                </a:solidFill>
                <a:latin typeface="Calibri" pitchFamily="34" charset="0"/>
                <a:ea typeface="Calibri" pitchFamily="34" charset="-122"/>
                <a:cs typeface="Calibri" pitchFamily="34" charset="-120"/>
              </a:rPr>
              <a:t>⚠️  البطالة التكنولوجية</a:t>
            </a:r>
            <a:endParaRPr lang="en-US" sz="1600" dirty="0"/>
          </a:p>
        </p:txBody>
      </p:sp>
      <p:sp>
        <p:nvSpPr>
          <p:cNvPr id="11" name="Text 9"/>
          <p:cNvSpPr/>
          <p:nvPr/>
        </p:nvSpPr>
        <p:spPr>
          <a:xfrm>
            <a:off x="3337560" y="1554480"/>
            <a:ext cx="2606040" cy="1188720"/>
          </a:xfrm>
          <a:prstGeom prst="rect">
            <a:avLst/>
          </a:prstGeom>
          <a:noFill/>
          <a:ln/>
        </p:spPr>
        <p:txBody>
          <a:bodyPr wrap="square" rtlCol="0" anchor="t"/>
          <a:lstStyle/>
          <a:p>
            <a:pPr marL="0" indent="0" algn="r" rtl="1">
              <a:buNone/>
            </a:pPr>
            <a:r>
              <a:rPr lang="en-US" sz="1600" b="1" dirty="0">
                <a:solidFill>
                  <a:srgbClr val="334155"/>
                </a:solidFill>
                <a:latin typeface="Calibri" pitchFamily="34" charset="0"/>
                <a:ea typeface="Calibri" pitchFamily="34" charset="-122"/>
                <a:cs typeface="Calibri" pitchFamily="34" charset="-120"/>
              </a:rPr>
              <a:t>الأتمتة تهدد وظائف كثيرة بالاختفاء، مما يستدعي إعادة تأهيل الكوادر البشرية.</a:t>
            </a:r>
            <a:endParaRPr lang="en-US" sz="1600" b="1" dirty="0"/>
          </a:p>
        </p:txBody>
      </p:sp>
      <p:sp>
        <p:nvSpPr>
          <p:cNvPr id="12" name="Shape 10"/>
          <p:cNvSpPr/>
          <p:nvPr/>
        </p:nvSpPr>
        <p:spPr>
          <a:xfrm>
            <a:off x="6080760" y="105156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13" name="Shape 11"/>
          <p:cNvSpPr/>
          <p:nvPr/>
        </p:nvSpPr>
        <p:spPr>
          <a:xfrm>
            <a:off x="6080760" y="1051560"/>
            <a:ext cx="91440" cy="1783080"/>
          </a:xfrm>
          <a:prstGeom prst="rect">
            <a:avLst/>
          </a:prstGeom>
          <a:solidFill>
            <a:srgbClr val="B91C1C"/>
          </a:solidFill>
          <a:ln w="12700">
            <a:solidFill>
              <a:srgbClr val="B91C1C"/>
            </a:solidFill>
            <a:prstDash val="solid"/>
          </a:ln>
        </p:spPr>
      </p:sp>
      <p:sp>
        <p:nvSpPr>
          <p:cNvPr id="14" name="Text 12"/>
          <p:cNvSpPr/>
          <p:nvPr/>
        </p:nvSpPr>
        <p:spPr>
          <a:xfrm>
            <a:off x="6263640" y="1143000"/>
            <a:ext cx="2606040" cy="411480"/>
          </a:xfrm>
          <a:prstGeom prst="rect">
            <a:avLst/>
          </a:prstGeom>
          <a:noFill/>
          <a:ln/>
        </p:spPr>
        <p:txBody>
          <a:bodyPr wrap="square" rtlCol="0" anchor="ctr"/>
          <a:lstStyle/>
          <a:p>
            <a:pPr marL="0" indent="0" algn="ctr" rtl="1">
              <a:buNone/>
            </a:pPr>
            <a:r>
              <a:rPr lang="en-US" sz="1600" b="1" dirty="0">
                <a:solidFill>
                  <a:srgbClr val="B91C1C"/>
                </a:solidFill>
                <a:latin typeface="Calibri" pitchFamily="34" charset="0"/>
                <a:ea typeface="Calibri" pitchFamily="34" charset="-122"/>
                <a:cs typeface="Calibri" pitchFamily="34" charset="-120"/>
              </a:rPr>
              <a:t>🔓  انتهاك الخصوصية</a:t>
            </a:r>
            <a:endParaRPr lang="en-US" sz="1600" dirty="0"/>
          </a:p>
        </p:txBody>
      </p:sp>
      <p:sp>
        <p:nvSpPr>
          <p:cNvPr id="15" name="Text 13"/>
          <p:cNvSpPr/>
          <p:nvPr/>
        </p:nvSpPr>
        <p:spPr>
          <a:xfrm>
            <a:off x="6263640" y="1554480"/>
            <a:ext cx="2606040" cy="1188720"/>
          </a:xfrm>
          <a:prstGeom prst="rect">
            <a:avLst/>
          </a:prstGeom>
          <a:noFill/>
          <a:ln/>
        </p:spPr>
        <p:txBody>
          <a:bodyPr wrap="square" rtlCol="0" anchor="t"/>
          <a:lstStyle/>
          <a:p>
            <a:pPr marL="0" indent="0" algn="r" rtl="1">
              <a:buNone/>
            </a:pPr>
            <a:r>
              <a:rPr lang="en-US" sz="1600" b="1" dirty="0">
                <a:solidFill>
                  <a:srgbClr val="334155"/>
                </a:solidFill>
                <a:latin typeface="Calibri" pitchFamily="34" charset="0"/>
                <a:ea typeface="Calibri" pitchFamily="34" charset="-122"/>
                <a:cs typeface="Calibri" pitchFamily="34" charset="-120"/>
              </a:rPr>
              <a:t>جمع البيانات الشخصية واستغلالها تجاريًا أو لأغراض مشبوهة دون علم المستخدمين.</a:t>
            </a:r>
            <a:endParaRPr lang="en-US" sz="1600" b="1" dirty="0"/>
          </a:p>
        </p:txBody>
      </p:sp>
      <p:sp>
        <p:nvSpPr>
          <p:cNvPr id="16" name="Shape 14"/>
          <p:cNvSpPr/>
          <p:nvPr/>
        </p:nvSpPr>
        <p:spPr>
          <a:xfrm>
            <a:off x="228600" y="297180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17" name="Shape 15"/>
          <p:cNvSpPr/>
          <p:nvPr/>
        </p:nvSpPr>
        <p:spPr>
          <a:xfrm>
            <a:off x="228600" y="2971800"/>
            <a:ext cx="91440" cy="1783080"/>
          </a:xfrm>
          <a:prstGeom prst="rect">
            <a:avLst/>
          </a:prstGeom>
          <a:solidFill>
            <a:srgbClr val="B91C1C"/>
          </a:solidFill>
          <a:ln w="12700">
            <a:solidFill>
              <a:srgbClr val="B91C1C"/>
            </a:solidFill>
            <a:prstDash val="solid"/>
          </a:ln>
        </p:spPr>
      </p:sp>
      <p:sp>
        <p:nvSpPr>
          <p:cNvPr id="18" name="Text 16"/>
          <p:cNvSpPr/>
          <p:nvPr/>
        </p:nvSpPr>
        <p:spPr>
          <a:xfrm>
            <a:off x="411480" y="3063240"/>
            <a:ext cx="2606040" cy="411480"/>
          </a:xfrm>
          <a:prstGeom prst="rect">
            <a:avLst/>
          </a:prstGeom>
          <a:noFill/>
          <a:ln/>
        </p:spPr>
        <p:txBody>
          <a:bodyPr wrap="square" rtlCol="0" anchor="ctr"/>
          <a:lstStyle/>
          <a:p>
            <a:pPr marL="0" indent="0" algn="ctr" rtl="1">
              <a:buNone/>
            </a:pPr>
            <a:r>
              <a:rPr lang="en-US" sz="1600" b="1" dirty="0">
                <a:solidFill>
                  <a:srgbClr val="B91C1C"/>
                </a:solidFill>
                <a:latin typeface="Calibri" pitchFamily="34" charset="0"/>
                <a:ea typeface="Calibri" pitchFamily="34" charset="-122"/>
                <a:cs typeface="Calibri" pitchFamily="34" charset="-120"/>
              </a:rPr>
              <a:t>💻  الجرائم الإلكترونية</a:t>
            </a:r>
            <a:endParaRPr lang="en-US" sz="1600" dirty="0"/>
          </a:p>
        </p:txBody>
      </p:sp>
      <p:sp>
        <p:nvSpPr>
          <p:cNvPr id="19" name="Text 17"/>
          <p:cNvSpPr/>
          <p:nvPr/>
        </p:nvSpPr>
        <p:spPr>
          <a:xfrm>
            <a:off x="411480" y="3474720"/>
            <a:ext cx="2606040" cy="1188720"/>
          </a:xfrm>
          <a:prstGeom prst="rect">
            <a:avLst/>
          </a:prstGeom>
          <a:noFill/>
          <a:ln/>
        </p:spPr>
        <p:txBody>
          <a:bodyPr wrap="square" rtlCol="0" anchor="t"/>
          <a:lstStyle/>
          <a:p>
            <a:pPr marL="0" indent="0" algn="r" rtl="1">
              <a:buNone/>
            </a:pPr>
            <a:r>
              <a:rPr lang="en-US" sz="1600" b="1" dirty="0">
                <a:solidFill>
                  <a:srgbClr val="334155"/>
                </a:solidFill>
                <a:latin typeface="Calibri" pitchFamily="34" charset="0"/>
                <a:ea typeface="Calibri" pitchFamily="34" charset="-122"/>
                <a:cs typeface="Calibri" pitchFamily="34" charset="-120"/>
              </a:rPr>
              <a:t>القرصنة والاحتيال والتشهير عبر الإنترنت تهديدات متزايدة تستلزم حلولًا فعالة.</a:t>
            </a:r>
            <a:endParaRPr lang="en-US" sz="1600" b="1" dirty="0"/>
          </a:p>
        </p:txBody>
      </p:sp>
      <p:sp>
        <p:nvSpPr>
          <p:cNvPr id="20" name="Shape 18"/>
          <p:cNvSpPr/>
          <p:nvPr/>
        </p:nvSpPr>
        <p:spPr>
          <a:xfrm>
            <a:off x="3154680" y="297180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21" name="Shape 19"/>
          <p:cNvSpPr/>
          <p:nvPr/>
        </p:nvSpPr>
        <p:spPr>
          <a:xfrm>
            <a:off x="3154680" y="2971800"/>
            <a:ext cx="91440" cy="1783080"/>
          </a:xfrm>
          <a:prstGeom prst="rect">
            <a:avLst/>
          </a:prstGeom>
          <a:solidFill>
            <a:srgbClr val="B91C1C"/>
          </a:solidFill>
          <a:ln w="12700">
            <a:solidFill>
              <a:srgbClr val="B91C1C"/>
            </a:solidFill>
            <a:prstDash val="solid"/>
          </a:ln>
        </p:spPr>
      </p:sp>
      <p:sp>
        <p:nvSpPr>
          <p:cNvPr id="22" name="Text 20"/>
          <p:cNvSpPr/>
          <p:nvPr/>
        </p:nvSpPr>
        <p:spPr>
          <a:xfrm>
            <a:off x="3337560" y="3063240"/>
            <a:ext cx="2606040" cy="411480"/>
          </a:xfrm>
          <a:prstGeom prst="rect">
            <a:avLst/>
          </a:prstGeom>
          <a:noFill/>
          <a:ln/>
        </p:spPr>
        <p:txBody>
          <a:bodyPr wrap="square" rtlCol="0" anchor="ctr"/>
          <a:lstStyle/>
          <a:p>
            <a:pPr marL="0" indent="0" algn="ctr" rtl="1">
              <a:buNone/>
            </a:pPr>
            <a:r>
              <a:rPr lang="en-US" sz="1600" b="1" dirty="0">
                <a:solidFill>
                  <a:srgbClr val="B91C1C"/>
                </a:solidFill>
                <a:latin typeface="Calibri" pitchFamily="34" charset="0"/>
                <a:ea typeface="Calibri" pitchFamily="34" charset="-122"/>
                <a:cs typeface="Calibri" pitchFamily="34" charset="-120"/>
              </a:rPr>
              <a:t>📱  الإدمان الرقمي</a:t>
            </a:r>
            <a:endParaRPr lang="en-US" sz="1600" dirty="0"/>
          </a:p>
        </p:txBody>
      </p:sp>
      <p:sp>
        <p:nvSpPr>
          <p:cNvPr id="23" name="Text 21"/>
          <p:cNvSpPr/>
          <p:nvPr/>
        </p:nvSpPr>
        <p:spPr>
          <a:xfrm>
            <a:off x="3337560" y="3474720"/>
            <a:ext cx="2606040" cy="1188720"/>
          </a:xfrm>
          <a:prstGeom prst="rect">
            <a:avLst/>
          </a:prstGeom>
          <a:noFill/>
          <a:ln/>
        </p:spPr>
        <p:txBody>
          <a:bodyPr wrap="square" rtlCol="0" anchor="t"/>
          <a:lstStyle/>
          <a:p>
            <a:pPr marL="0" indent="0" algn="r" rtl="1">
              <a:buNone/>
            </a:pPr>
            <a:r>
              <a:rPr lang="en-US" sz="1600" b="1" dirty="0">
                <a:solidFill>
                  <a:srgbClr val="334155"/>
                </a:solidFill>
                <a:latin typeface="Calibri" pitchFamily="34" charset="0"/>
                <a:ea typeface="Calibri" pitchFamily="34" charset="-122"/>
                <a:cs typeface="Calibri" pitchFamily="34" charset="-120"/>
              </a:rPr>
              <a:t>الاستخدام المفرط للشاشات وتأثيره السلبي على الصحة النفسية والتواصل الاجتماعي.</a:t>
            </a:r>
            <a:endParaRPr lang="en-US" sz="1600" b="1" dirty="0"/>
          </a:p>
        </p:txBody>
      </p:sp>
      <p:sp>
        <p:nvSpPr>
          <p:cNvPr id="24" name="Shape 22"/>
          <p:cNvSpPr/>
          <p:nvPr/>
        </p:nvSpPr>
        <p:spPr>
          <a:xfrm>
            <a:off x="6080760" y="2971800"/>
            <a:ext cx="2834640" cy="1783080"/>
          </a:xfrm>
          <a:prstGeom prst="rect">
            <a:avLst/>
          </a:prstGeom>
          <a:solidFill>
            <a:srgbClr val="FFFFFF"/>
          </a:solidFill>
          <a:ln/>
          <a:effectLst>
            <a:outerShdw blurRad="76200" dist="25400" dir="8100000" algn="bl" rotWithShape="0">
              <a:srgbClr val="000000">
                <a:alpha val="10000"/>
              </a:srgbClr>
            </a:outerShdw>
          </a:effectLst>
        </p:spPr>
      </p:sp>
      <p:sp>
        <p:nvSpPr>
          <p:cNvPr id="25" name="Shape 23"/>
          <p:cNvSpPr/>
          <p:nvPr/>
        </p:nvSpPr>
        <p:spPr>
          <a:xfrm>
            <a:off x="6080760" y="2971800"/>
            <a:ext cx="91440" cy="1783080"/>
          </a:xfrm>
          <a:prstGeom prst="rect">
            <a:avLst/>
          </a:prstGeom>
          <a:solidFill>
            <a:srgbClr val="B91C1C"/>
          </a:solidFill>
          <a:ln w="12700">
            <a:solidFill>
              <a:srgbClr val="B91C1C"/>
            </a:solidFill>
            <a:prstDash val="solid"/>
          </a:ln>
        </p:spPr>
      </p:sp>
      <p:sp>
        <p:nvSpPr>
          <p:cNvPr id="26" name="Text 24"/>
          <p:cNvSpPr/>
          <p:nvPr/>
        </p:nvSpPr>
        <p:spPr>
          <a:xfrm>
            <a:off x="6263640" y="3063240"/>
            <a:ext cx="2606040" cy="411480"/>
          </a:xfrm>
          <a:prstGeom prst="rect">
            <a:avLst/>
          </a:prstGeom>
          <a:noFill/>
          <a:ln/>
        </p:spPr>
        <p:txBody>
          <a:bodyPr wrap="square" rtlCol="0" anchor="ctr"/>
          <a:lstStyle/>
          <a:p>
            <a:pPr marL="0" indent="0" algn="ctr" rtl="1">
              <a:buNone/>
            </a:pPr>
            <a:r>
              <a:rPr lang="en-US" sz="1600" b="1" dirty="0">
                <a:solidFill>
                  <a:srgbClr val="B91C1C"/>
                </a:solidFill>
                <a:latin typeface="Calibri" pitchFamily="34" charset="0"/>
                <a:ea typeface="Calibri" pitchFamily="34" charset="-122"/>
                <a:cs typeface="Calibri" pitchFamily="34" charset="-120"/>
              </a:rPr>
              <a:t>📰  التضليل المعلوماتي</a:t>
            </a:r>
            <a:endParaRPr lang="en-US" sz="1600" dirty="0"/>
          </a:p>
        </p:txBody>
      </p:sp>
      <p:sp>
        <p:nvSpPr>
          <p:cNvPr id="27" name="Text 25"/>
          <p:cNvSpPr/>
          <p:nvPr/>
        </p:nvSpPr>
        <p:spPr>
          <a:xfrm>
            <a:off x="6263640" y="3474720"/>
            <a:ext cx="2606040" cy="1188720"/>
          </a:xfrm>
          <a:prstGeom prst="rect">
            <a:avLst/>
          </a:prstGeom>
          <a:noFill/>
          <a:ln/>
        </p:spPr>
        <p:txBody>
          <a:bodyPr wrap="square" rtlCol="0" anchor="t"/>
          <a:lstStyle/>
          <a:p>
            <a:pPr marL="0" indent="0" algn="r" rtl="1">
              <a:buNone/>
            </a:pPr>
            <a:r>
              <a:rPr lang="en-US" sz="1600" b="1" dirty="0">
                <a:solidFill>
                  <a:srgbClr val="334155"/>
                </a:solidFill>
                <a:latin typeface="Calibri" pitchFamily="34" charset="0"/>
                <a:ea typeface="Calibri" pitchFamily="34" charset="-122"/>
                <a:cs typeface="Calibri" pitchFamily="34" charset="-120"/>
              </a:rPr>
              <a:t>انتشار الأخبار الكاذبة والمحتوى المزيف بسرعة مذهلة عبر منصات التواصل الاجتماعي.</a:t>
            </a:r>
            <a:endParaRPr lang="en-US" sz="1600" b="1" dirty="0"/>
          </a:p>
        </p:txBody>
      </p:sp>
    </p:spTree>
  </p:cSld>
  <p:clrMapOvr>
    <a:masterClrMapping/>
  </p:clrMapOvr>
  <mc:AlternateContent xmlns:mc="http://schemas.openxmlformats.org/markup-compatibility/2006">
    <mc:Choice xmlns:p14="http://schemas.microsoft.com/office/powerpoint/2010/main" Requires="p14">
      <p:transition spd="slow" p14:dur="2000">
        <p:push dir="u"/>
      </p:transition>
    </mc:Choice>
    <mc:Fallback>
      <p:transition spd="slow">
        <p:push dir="u"/>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044"/>
        </a:solidFill>
        <a:effectLst/>
      </p:bgPr>
    </p:bg>
    <p:spTree>
      <p:nvGrpSpPr>
        <p:cNvPr id="1" name=""/>
        <p:cNvGrpSpPr/>
        <p:nvPr/>
      </p:nvGrpSpPr>
      <p:grpSpPr>
        <a:xfrm>
          <a:off x="0" y="0"/>
          <a:ext cx="0" cy="0"/>
          <a:chOff x="0" y="0"/>
          <a:chExt cx="0" cy="0"/>
        </a:xfrm>
      </p:grpSpPr>
      <p:sp>
        <p:nvSpPr>
          <p:cNvPr id="2" name="Shape 0"/>
          <p:cNvSpPr/>
          <p:nvPr/>
        </p:nvSpPr>
        <p:spPr>
          <a:xfrm>
            <a:off x="-457200" y="-457200"/>
            <a:ext cx="2743200" cy="2743200"/>
          </a:xfrm>
          <a:prstGeom prst="ellipse">
            <a:avLst/>
          </a:prstGeom>
          <a:solidFill>
            <a:srgbClr val="0077B6">
              <a:alpha val="20000"/>
            </a:srgbClr>
          </a:solidFill>
          <a:ln w="12700">
            <a:solidFill>
              <a:srgbClr val="0077B6">
                <a:alpha val="20000"/>
              </a:srgbClr>
            </a:solidFill>
            <a:prstDash val="solid"/>
          </a:ln>
        </p:spPr>
      </p:sp>
      <p:sp>
        <p:nvSpPr>
          <p:cNvPr id="3" name="Shape 1"/>
          <p:cNvSpPr/>
          <p:nvPr/>
        </p:nvSpPr>
        <p:spPr>
          <a:xfrm>
            <a:off x="7132320" y="2926080"/>
            <a:ext cx="2560320" cy="2560320"/>
          </a:xfrm>
          <a:prstGeom prst="ellipse">
            <a:avLst/>
          </a:prstGeom>
          <a:solidFill>
            <a:srgbClr val="00B4D8">
              <a:alpha val="15000"/>
            </a:srgbClr>
          </a:solidFill>
          <a:ln w="12700">
            <a:solidFill>
              <a:srgbClr val="00B4D8">
                <a:alpha val="15000"/>
              </a:srgbClr>
            </a:solidFill>
            <a:prstDash val="solid"/>
          </a:ln>
        </p:spPr>
      </p:sp>
      <p:sp>
        <p:nvSpPr>
          <p:cNvPr id="4" name="Text 2"/>
          <p:cNvSpPr/>
          <p:nvPr/>
        </p:nvSpPr>
        <p:spPr>
          <a:xfrm>
            <a:off x="457200" y="457200"/>
            <a:ext cx="8229600" cy="640080"/>
          </a:xfrm>
          <a:prstGeom prst="rect">
            <a:avLst/>
          </a:prstGeom>
          <a:noFill/>
          <a:ln/>
        </p:spPr>
        <p:txBody>
          <a:bodyPr wrap="square" rtlCol="0" anchor="ctr"/>
          <a:lstStyle/>
          <a:p>
            <a:pPr marL="0" indent="0" algn="ctr" rtl="1">
              <a:buNone/>
            </a:pPr>
            <a:r>
              <a:rPr lang="en-US" sz="3400" b="1" dirty="0">
                <a:solidFill>
                  <a:srgbClr val="00B4D8"/>
                </a:solidFill>
                <a:latin typeface="Calibri" pitchFamily="34" charset="0"/>
                <a:ea typeface="Calibri" pitchFamily="34" charset="-122"/>
                <a:cs typeface="Calibri" pitchFamily="34" charset="-120"/>
              </a:rPr>
              <a:t>خاتمة</a:t>
            </a:r>
            <a:endParaRPr lang="en-US" sz="3400" dirty="0"/>
          </a:p>
        </p:txBody>
      </p:sp>
      <p:sp>
        <p:nvSpPr>
          <p:cNvPr id="5" name="Shape 3"/>
          <p:cNvSpPr/>
          <p:nvPr/>
        </p:nvSpPr>
        <p:spPr>
          <a:xfrm>
            <a:off x="3200400" y="1143000"/>
            <a:ext cx="2743200" cy="54864"/>
          </a:xfrm>
          <a:prstGeom prst="rect">
            <a:avLst/>
          </a:prstGeom>
          <a:solidFill>
            <a:srgbClr val="00B4D8"/>
          </a:solidFill>
          <a:ln w="12700">
            <a:solidFill>
              <a:srgbClr val="00B4D8"/>
            </a:solidFill>
            <a:prstDash val="solid"/>
          </a:ln>
        </p:spPr>
      </p:sp>
      <p:sp>
        <p:nvSpPr>
          <p:cNvPr id="6" name="Shape 4"/>
          <p:cNvSpPr/>
          <p:nvPr/>
        </p:nvSpPr>
        <p:spPr>
          <a:xfrm>
            <a:off x="60311" y="1417320"/>
            <a:ext cx="8937774" cy="3017520"/>
          </a:xfrm>
          <a:prstGeom prst="rect">
            <a:avLst/>
          </a:prstGeom>
          <a:solidFill>
            <a:srgbClr val="162C52"/>
          </a:solidFill>
          <a:ln/>
          <a:effectLst>
            <a:outerShdw blurRad="127000" dist="38100" dir="8100000" algn="bl" rotWithShape="0">
              <a:srgbClr val="000000">
                <a:alpha val="20000"/>
              </a:srgbClr>
            </a:outerShdw>
          </a:effectLst>
        </p:spPr>
      </p:sp>
      <p:sp>
        <p:nvSpPr>
          <p:cNvPr id="7" name="Text 5"/>
          <p:cNvSpPr/>
          <p:nvPr/>
        </p:nvSpPr>
        <p:spPr>
          <a:xfrm>
            <a:off x="731520" y="1417320"/>
            <a:ext cx="7955280" cy="2834640"/>
          </a:xfrm>
          <a:prstGeom prst="rect">
            <a:avLst/>
          </a:prstGeom>
          <a:noFill/>
          <a:ln/>
        </p:spPr>
        <p:txBody>
          <a:bodyPr wrap="square" rtlCol="0" anchor="ctr"/>
          <a:lstStyle/>
          <a:p>
            <a:pPr marL="0" indent="0" algn="ctr" rtl="1">
              <a:spcAft>
                <a:spcPts val="800"/>
              </a:spcAft>
              <a:buNone/>
            </a:pPr>
            <a:r>
              <a:rPr lang="en-US" sz="2000" b="1" dirty="0">
                <a:solidFill>
                  <a:srgbClr val="CBD5E1"/>
                </a:solidFill>
                <a:latin typeface="BIZ UDPMincho Medium" panose="02020500000000000000" pitchFamily="18" charset="-128"/>
                <a:ea typeface="BIZ UDPMincho Medium" panose="02020500000000000000" pitchFamily="18" charset="-128"/>
                <a:cs typeface="Calibri" pitchFamily="34" charset="-120"/>
              </a:rPr>
              <a:t>بات الإعلام الآلي اليوم ليس مجرد أداة مساعدة، بل العمود الفقري للحضارة الحديثة.</a:t>
            </a:r>
            <a:endParaRPr lang="en-US" sz="2000" b="1" dirty="0">
              <a:latin typeface="BIZ UDPMincho Medium" panose="02020500000000000000" pitchFamily="18" charset="-128"/>
              <a:ea typeface="BIZ UDPMincho Medium" panose="02020500000000000000" pitchFamily="18" charset="-128"/>
            </a:endParaRPr>
          </a:p>
          <a:p>
            <a:pPr marL="0" indent="0" algn="ctr" rtl="1">
              <a:spcAft>
                <a:spcPts val="800"/>
              </a:spcAft>
              <a:buNone/>
            </a:pPr>
            <a:r>
              <a:rPr lang="en-US" sz="2000" b="1" dirty="0" smtClean="0">
                <a:solidFill>
                  <a:srgbClr val="CBD5E1"/>
                </a:solidFill>
                <a:latin typeface="BIZ UDPMincho Medium" panose="02020500000000000000" pitchFamily="18" charset="-128"/>
                <a:ea typeface="BIZ UDPMincho Medium" panose="02020500000000000000" pitchFamily="18" charset="-128"/>
                <a:cs typeface="Calibri" pitchFamily="34" charset="-120"/>
              </a:rPr>
              <a:t>الدول </a:t>
            </a:r>
            <a:r>
              <a:rPr lang="en-US" sz="2000" b="1" dirty="0">
                <a:solidFill>
                  <a:srgbClr val="CBD5E1"/>
                </a:solidFill>
                <a:latin typeface="BIZ UDPMincho Medium" panose="02020500000000000000" pitchFamily="18" charset="-128"/>
                <a:ea typeface="BIZ UDPMincho Medium" panose="02020500000000000000" pitchFamily="18" charset="-128"/>
                <a:cs typeface="Calibri" pitchFamily="34" charset="-120"/>
              </a:rPr>
              <a:t>التي تستثمر في هذا المجال تعليمًا وبحثًا وتطويرًا هي التي تتصدر قائمة الأمم المتقدمة.</a:t>
            </a:r>
            <a:endParaRPr lang="en-US" sz="2000" b="1" dirty="0">
              <a:latin typeface="BIZ UDPMincho Medium" panose="02020500000000000000" pitchFamily="18" charset="-128"/>
              <a:ea typeface="BIZ UDPMincho Medium" panose="02020500000000000000" pitchFamily="18" charset="-128"/>
            </a:endParaRPr>
          </a:p>
          <a:p>
            <a:pPr marL="0" indent="0" algn="ctr" rtl="1">
              <a:spcAft>
                <a:spcPts val="800"/>
              </a:spcAft>
              <a:buNone/>
            </a:pPr>
            <a:r>
              <a:rPr lang="en-US" sz="2000" b="1" dirty="0" smtClean="0">
                <a:solidFill>
                  <a:srgbClr val="CBD5E1"/>
                </a:solidFill>
                <a:latin typeface="BIZ UDPMincho Medium" panose="02020500000000000000" pitchFamily="18" charset="-128"/>
                <a:ea typeface="BIZ UDPMincho Medium" panose="02020500000000000000" pitchFamily="18" charset="-128"/>
                <a:cs typeface="Calibri" pitchFamily="34" charset="-120"/>
              </a:rPr>
              <a:t>لذلك </a:t>
            </a:r>
            <a:r>
              <a:rPr lang="en-US" sz="2000" b="1" dirty="0">
                <a:solidFill>
                  <a:srgbClr val="CBD5E1"/>
                </a:solidFill>
                <a:latin typeface="BIZ UDPMincho Medium" panose="02020500000000000000" pitchFamily="18" charset="-128"/>
                <a:ea typeface="BIZ UDPMincho Medium" panose="02020500000000000000" pitchFamily="18" charset="-128"/>
                <a:cs typeface="Calibri" pitchFamily="34" charset="-120"/>
              </a:rPr>
              <a:t>أصبح تعليم الإعلام الآلي منذ الصغر ضرورة حتمية لا خيارًا، لإعداد أجيال قادرة على المنافسة في عالم رقمي متسارع التغيير.</a:t>
            </a:r>
            <a:endParaRPr lang="en-US" sz="2000" b="1" dirty="0">
              <a:latin typeface="BIZ UDPMincho Medium" panose="02020500000000000000" pitchFamily="18" charset="-128"/>
              <a:ea typeface="BIZ UDPMincho Medium" panose="02020500000000000000" pitchFamily="18" charset="-128"/>
            </a:endParaRPr>
          </a:p>
        </p:txBody>
      </p:sp>
    </p:spTree>
  </p:cSld>
  <p:clrMapOvr>
    <a:masterClrMapping/>
  </p:clrMapOvr>
  <mc:AlternateContent xmlns:mc="http://schemas.openxmlformats.org/markup-compatibility/2006">
    <mc:Choice xmlns:p14="http://schemas.microsoft.com/office/powerpoint/2010/main" Requires="p14">
      <p:transition spd="slow" p14:dur="2000">
        <p:push dir="u"/>
      </p:transition>
    </mc:Choice>
    <mc:Fallback>
      <p:transition spd="slow">
        <p:push dir="u"/>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594</Words>
  <Application>Microsoft Office PowerPoint</Application>
  <PresentationFormat>On-screen Show (16:9)</PresentationFormat>
  <Paragraphs>91</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BIZ UDPGothic</vt:lpstr>
      <vt:lpstr>BIZ UDPMincho Medium</vt:lpstr>
      <vt:lpstr>(AH) Manal Black</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الإعلام الآلي</dc:title>
  <dc:subject>PptxGenJS Presentation</dc:subject>
  <dc:creator>PptxGenJS</dc:creator>
  <cp:lastModifiedBy>Microsoft account</cp:lastModifiedBy>
  <cp:revision>47</cp:revision>
  <dcterms:created xsi:type="dcterms:W3CDTF">2026-05-17T19:34:50Z</dcterms:created>
  <dcterms:modified xsi:type="dcterms:W3CDTF">2026-05-17T23:37:24Z</dcterms:modified>
</cp:coreProperties>
</file>